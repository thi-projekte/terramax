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Überblick: Problem, Positionierung, Rahmendaten. Quelle: Projektbeschreibung, Stakeholder-Interview mit John Deere (13.10.2026), Entscheidung zum MVP-Land in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 Stakeholder-Interview mit John Deere, 00:05:17 (zwei Personas) und 00:47:59 (drei MVP-Fähigkeiten). Persona Dealer Principal: PR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Abgrenzung aus Stakeholder-Interview (u. a. 00:18:45 Dashboard plus, 00:19:06 Deep Link, 00:33:28 Container, 00:34:55 kein Echtzeit, 00:41:19 ein Händler im MVP, 00:43:28 DSGVO und EU AI Act) und den Story-Abschnitten „Nicht im Scope“ (#24,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 der Issues und Pull Requests im Repository thi-projekte/terramax am 30.10.2026. PR #30 setzt #17 als Prototyp um (derzeit Weizen- und Sojaflächen aus INVEKOS Österreich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Quellen: Stakeholder-Interview (Okta 00:34:55, Container 00:32:34, DSGVO/AI Act 00:41:19), PR #16 (CI/CD), PR #30 (INVEKOS, Mapbox-Prototyp), Kommentar zu #18 (OSM-Vorschlag).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68"/>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200" b="1" spc="300" kern="0" dirty="0">
                <a:solidFill>
                  <a:srgbClr val="9FC3E8"/>
                </a:solidFill>
              </a:rPr>
              <a:t>STAKEHOLDER-INFORMATION</a:t>
            </a:r>
            <a:endParaRPr lang="en-US" sz="1200" dirty="0"/>
          </a:p>
        </p:txBody>
      </p:sp>
      <p:sp>
        <p:nvSpPr>
          <p:cNvPr id="3" name="Text 1"/>
          <p:cNvSpPr txBox="1"/>
          <p:nvPr/>
        </p:nvSpPr>
        <p:spPr>
          <a:xfrm>
            <a:off x="548640" y="868680"/>
            <a:ext cx="7315200" cy="822960"/>
          </a:xfrm>
          <a:prstGeom prst="rect">
            <a:avLst/>
          </a:prstGeom>
          <a:noFill/>
          <a:ln/>
        </p:spPr>
        <p:txBody>
          <a:bodyPr wrap="square" lIns="0" tIns="0" rIns="0" bIns="0" rtlCol="0" anchor="ctr"/>
          <a:lstStyle/>
          <a:p>
            <a:pPr indent="0" marL="0">
              <a:buNone/>
            </a:pPr>
            <a:r>
              <a:rPr lang="en-US" sz="4800" b="1" dirty="0">
                <a:solidFill>
                  <a:srgbClr val="FFFFFF"/>
                </a:solidFill>
              </a:rPr>
              <a:t>TerraMax</a:t>
            </a:r>
            <a:endParaRPr lang="en-US" sz="4800" dirty="0"/>
          </a:p>
        </p:txBody>
      </p:sp>
      <p:sp>
        <p:nvSpPr>
          <p:cNvPr id="4" name="Text 2"/>
          <p:cNvSpPr txBox="1"/>
          <p:nvPr/>
        </p:nvSpPr>
        <p:spPr>
          <a:xfrm>
            <a:off x="548640" y="1691640"/>
            <a:ext cx="7315200" cy="411480"/>
          </a:xfrm>
          <a:prstGeom prst="rect">
            <a:avLst/>
          </a:prstGeom>
          <a:noFill/>
          <a:ln/>
        </p:spPr>
        <p:txBody>
          <a:bodyPr wrap="square" lIns="0" tIns="0" rIns="0" bIns="0" rtlCol="0" anchor="ctr"/>
          <a:lstStyle/>
          <a:p>
            <a:pPr indent="0" marL="0">
              <a:buNone/>
            </a:pPr>
            <a:r>
              <a:rPr lang="en-US" sz="2200" dirty="0">
                <a:solidFill>
                  <a:srgbClr val="DCE5F2"/>
                </a:solidFill>
              </a:rPr>
              <a:t>Solution Scope und geplante Inhalte des MVP</a:t>
            </a:r>
            <a:endParaRPr lang="en-US" sz="2200" dirty="0"/>
          </a:p>
        </p:txBody>
      </p:sp>
      <p:sp>
        <p:nvSpPr>
          <p:cNvPr id="5" name="Text 3"/>
          <p:cNvSpPr txBox="1"/>
          <p:nvPr/>
        </p:nvSpPr>
        <p:spPr>
          <a:xfrm>
            <a:off x="548640" y="2377440"/>
            <a:ext cx="6766560" cy="3108960"/>
          </a:xfrm>
          <a:prstGeom prst="rect">
            <a:avLst/>
          </a:prstGeom>
          <a:noFill/>
          <a:ln/>
        </p:spPr>
        <p:txBody>
          <a:bodyPr wrap="square" lIns="0" tIns="0" rIns="0" bIns="0" rtlCol="0" anchor="t"/>
          <a:lstStyle/>
          <a:p>
            <a:pPr indent="0" marL="0">
              <a:buNone/>
            </a:pPr>
            <a:r>
              <a:rPr lang="en-US" sz="1700" b="1" dirty="0">
                <a:solidFill>
                  <a:srgbClr val="FFFFFF"/>
                </a:solidFill>
              </a:rPr>
              <a:t>Worum es geht</a:t>
            </a:r>
            <a:endParaRPr lang="en-US" sz="1700" dirty="0"/>
          </a:p>
          <a:p>
            <a:pPr indent="0" marL="0">
              <a:buNone/>
            </a:pPr>
            <a:r>
              <a:rPr lang="en-US" sz="1600" dirty="0">
                <a:solidFill>
                  <a:srgbClr val="DCE5F2"/>
                </a:solidFill>
              </a:rPr>
              <a:t>John-Deere-Händler kennen ihre Maschinen genau, über die Felder und Betriebe in ihrem Gebiet wissen sie wenig. TerraMax macht auf einer Karte sichtbar, wo der adressierbare Markt liegt, wo der Händler präsent ist und wo Aufmerksamkeit fehlt.</a:t>
            </a:r>
            <a:endParaRPr lang="en-US" sz="1700" dirty="0"/>
          </a:p>
          <a:p>
            <a:pPr indent="0" marL="0">
              <a:buNone/>
            </a:pPr>
            <a:r>
              <a:rPr lang="en-US" sz="600" dirty="0">
                <a:solidFill>
                  <a:srgbClr val="000000"/>
                </a:solidFill>
              </a:rPr>
              <a:t> </a:t>
            </a:r>
            <a:endParaRPr lang="en-US" sz="1700" dirty="0"/>
          </a:p>
          <a:p>
            <a:pPr indent="0" marL="0">
              <a:buNone/>
            </a:pPr>
            <a:r>
              <a:rPr lang="en-US" sz="1600" b="1" dirty="0">
                <a:solidFill>
                  <a:srgbClr val="FFFFFF"/>
                </a:solidFill>
              </a:rPr>
              <a:t>Positionierung: </a:t>
            </a:r>
            <a:r>
              <a:rPr lang="en-US" sz="1600" dirty="0">
                <a:solidFill>
                  <a:srgbClr val="DCE5F2"/>
                </a:solidFill>
              </a:rPr>
              <a:t>Planungs- und Entscheidungshilfe, kein weiteres KPI- oder Kontroll-Tool.</a:t>
            </a:r>
            <a:endParaRPr lang="en-US" sz="1700" dirty="0"/>
          </a:p>
        </p:txBody>
      </p:sp>
      <p:sp>
        <p:nvSpPr>
          <p:cNvPr id="6" name="Fakt MVP-Land"/>
          <p:cNvSpPr/>
          <p:nvPr/>
        </p:nvSpPr>
        <p:spPr>
          <a:xfrm>
            <a:off x="7863840" y="868680"/>
            <a:ext cx="3840480" cy="914400"/>
          </a:xfrm>
          <a:prstGeom prst="roundRect">
            <a:avLst>
              <a:gd name="adj" fmla="val 8000"/>
            </a:avLst>
          </a:prstGeom>
          <a:solidFill>
            <a:srgbClr val="2B4C80"/>
          </a:solidFill>
          <a:ln w="12700">
            <a:solidFill>
              <a:srgbClr val="2B4C80"/>
            </a:solidFill>
            <a:prstDash val="solid"/>
          </a:ln>
        </p:spPr>
      </p:sp>
      <p:sp>
        <p:nvSpPr>
          <p:cNvPr id="7" name="Text 5"/>
          <p:cNvSpPr txBox="1"/>
          <p:nvPr/>
        </p:nvSpPr>
        <p:spPr>
          <a:xfrm>
            <a:off x="8046720" y="978408"/>
            <a:ext cx="3474720" cy="228600"/>
          </a:xfrm>
          <a:prstGeom prst="rect">
            <a:avLst/>
          </a:prstGeom>
          <a:noFill/>
          <a:ln/>
        </p:spPr>
        <p:txBody>
          <a:bodyPr wrap="square" lIns="0" tIns="0" rIns="0" bIns="0" rtlCol="0" anchor="ctr"/>
          <a:lstStyle/>
          <a:p>
            <a:pPr indent="0" marL="0">
              <a:buNone/>
            </a:pPr>
            <a:r>
              <a:rPr lang="en-US" sz="1000" b="1" spc="200" kern="0" dirty="0">
                <a:solidFill>
                  <a:srgbClr val="9FC3E8"/>
                </a:solidFill>
              </a:rPr>
              <a:t>MVP-LAND</a:t>
            </a:r>
            <a:endParaRPr lang="en-US" sz="1000" dirty="0"/>
          </a:p>
        </p:txBody>
      </p:sp>
      <p:sp>
        <p:nvSpPr>
          <p:cNvPr id="8" name="Text 6"/>
          <p:cNvSpPr txBox="1"/>
          <p:nvPr/>
        </p:nvSpPr>
        <p:spPr>
          <a:xfrm>
            <a:off x="8046720" y="1234440"/>
            <a:ext cx="3474720" cy="457200"/>
          </a:xfrm>
          <a:prstGeom prst="rect">
            <a:avLst/>
          </a:prstGeom>
          <a:noFill/>
          <a:ln/>
        </p:spPr>
        <p:txBody>
          <a:bodyPr wrap="square" lIns="0" tIns="0" rIns="0" bIns="0" rtlCol="0" anchor="t"/>
          <a:lstStyle/>
          <a:p>
            <a:pPr indent="0" marL="0">
              <a:buNone/>
            </a:pPr>
            <a:r>
              <a:rPr lang="en-US" sz="1300" b="1" dirty="0">
                <a:solidFill>
                  <a:srgbClr val="FFFFFF"/>
                </a:solidFill>
              </a:rPr>
              <a:t>Österreich, Zweitwahl Tschechien (#14)</a:t>
            </a:r>
            <a:endParaRPr lang="en-US" sz="1300" dirty="0"/>
          </a:p>
        </p:txBody>
      </p:sp>
      <p:sp>
        <p:nvSpPr>
          <p:cNvPr id="9" name="Fakt Nutzerrollen"/>
          <p:cNvSpPr/>
          <p:nvPr/>
        </p:nvSpPr>
        <p:spPr>
          <a:xfrm>
            <a:off x="7863840" y="1947672"/>
            <a:ext cx="3840480" cy="914400"/>
          </a:xfrm>
          <a:prstGeom prst="roundRect">
            <a:avLst>
              <a:gd name="adj" fmla="val 8000"/>
            </a:avLst>
          </a:prstGeom>
          <a:solidFill>
            <a:srgbClr val="2B4C80"/>
          </a:solidFill>
          <a:ln w="12700">
            <a:solidFill>
              <a:srgbClr val="2B4C80"/>
            </a:solidFill>
            <a:prstDash val="solid"/>
          </a:ln>
        </p:spPr>
      </p:sp>
      <p:sp>
        <p:nvSpPr>
          <p:cNvPr id="10" name="Text 8"/>
          <p:cNvSpPr txBox="1"/>
          <p:nvPr/>
        </p:nvSpPr>
        <p:spPr>
          <a:xfrm>
            <a:off x="8046720" y="2057400"/>
            <a:ext cx="3474720" cy="228600"/>
          </a:xfrm>
          <a:prstGeom prst="rect">
            <a:avLst/>
          </a:prstGeom>
          <a:noFill/>
          <a:ln/>
        </p:spPr>
        <p:txBody>
          <a:bodyPr wrap="square" lIns="0" tIns="0" rIns="0" bIns="0" rtlCol="0" anchor="ctr"/>
          <a:lstStyle/>
          <a:p>
            <a:pPr indent="0" marL="0">
              <a:buNone/>
            </a:pPr>
            <a:r>
              <a:rPr lang="en-US" sz="1000" b="1" spc="200" kern="0" dirty="0">
                <a:solidFill>
                  <a:srgbClr val="9FC3E8"/>
                </a:solidFill>
              </a:rPr>
              <a:t>NUTZERROLLEN</a:t>
            </a:r>
            <a:endParaRPr lang="en-US" sz="1000" dirty="0"/>
          </a:p>
        </p:txBody>
      </p:sp>
      <p:sp>
        <p:nvSpPr>
          <p:cNvPr id="11" name="Text 9"/>
          <p:cNvSpPr txBox="1"/>
          <p:nvPr/>
        </p:nvSpPr>
        <p:spPr>
          <a:xfrm>
            <a:off x="8046720" y="2313432"/>
            <a:ext cx="3474720" cy="457200"/>
          </a:xfrm>
          <a:prstGeom prst="rect">
            <a:avLst/>
          </a:prstGeom>
          <a:noFill/>
          <a:ln/>
        </p:spPr>
        <p:txBody>
          <a:bodyPr wrap="square" lIns="0" tIns="0" rIns="0" bIns="0" rtlCol="0" anchor="t"/>
          <a:lstStyle/>
          <a:p>
            <a:pPr indent="0" marL="0">
              <a:buNone/>
            </a:pPr>
            <a:r>
              <a:rPr lang="en-US" sz="1300" b="1" dirty="0">
                <a:solidFill>
                  <a:srgbClr val="FFFFFF"/>
                </a:solidFill>
              </a:rPr>
              <a:t>Dealer Principal und Sales Professional</a:t>
            </a:r>
            <a:endParaRPr lang="en-US" sz="1300" dirty="0"/>
          </a:p>
        </p:txBody>
      </p:sp>
      <p:sp>
        <p:nvSpPr>
          <p:cNvPr id="12" name="Fakt Partner"/>
          <p:cNvSpPr/>
          <p:nvPr/>
        </p:nvSpPr>
        <p:spPr>
          <a:xfrm>
            <a:off x="7863840" y="3026664"/>
            <a:ext cx="3840480" cy="914400"/>
          </a:xfrm>
          <a:prstGeom prst="roundRect">
            <a:avLst>
              <a:gd name="adj" fmla="val 8000"/>
            </a:avLst>
          </a:prstGeom>
          <a:solidFill>
            <a:srgbClr val="2B4C80"/>
          </a:solidFill>
          <a:ln w="12700">
            <a:solidFill>
              <a:srgbClr val="2B4C80"/>
            </a:solidFill>
            <a:prstDash val="solid"/>
          </a:ln>
        </p:spPr>
      </p:sp>
      <p:sp>
        <p:nvSpPr>
          <p:cNvPr id="13" name="Text 11"/>
          <p:cNvSpPr txBox="1"/>
          <p:nvPr/>
        </p:nvSpPr>
        <p:spPr>
          <a:xfrm>
            <a:off x="8046720" y="3136392"/>
            <a:ext cx="3474720" cy="228600"/>
          </a:xfrm>
          <a:prstGeom prst="rect">
            <a:avLst/>
          </a:prstGeom>
          <a:noFill/>
          <a:ln/>
        </p:spPr>
        <p:txBody>
          <a:bodyPr wrap="square" lIns="0" tIns="0" rIns="0" bIns="0" rtlCol="0" anchor="ctr"/>
          <a:lstStyle/>
          <a:p>
            <a:pPr indent="0" marL="0">
              <a:buNone/>
            </a:pPr>
            <a:r>
              <a:rPr lang="en-US" sz="1000" b="1" spc="200" kern="0" dirty="0">
                <a:solidFill>
                  <a:srgbClr val="9FC3E8"/>
                </a:solidFill>
              </a:rPr>
              <a:t>PARTNER</a:t>
            </a:r>
            <a:endParaRPr lang="en-US" sz="1000" dirty="0"/>
          </a:p>
        </p:txBody>
      </p:sp>
      <p:sp>
        <p:nvSpPr>
          <p:cNvPr id="14" name="Text 12"/>
          <p:cNvSpPr txBox="1"/>
          <p:nvPr/>
        </p:nvSpPr>
        <p:spPr>
          <a:xfrm>
            <a:off x="8046720" y="3392424"/>
            <a:ext cx="3474720" cy="457200"/>
          </a:xfrm>
          <a:prstGeom prst="rect">
            <a:avLst/>
          </a:prstGeom>
          <a:noFill/>
          <a:ln/>
        </p:spPr>
        <p:txBody>
          <a:bodyPr wrap="square" lIns="0" tIns="0" rIns="0" bIns="0" rtlCol="0" anchor="t"/>
          <a:lstStyle/>
          <a:p>
            <a:pPr indent="0" marL="0">
              <a:buNone/>
            </a:pPr>
            <a:r>
              <a:rPr lang="en-US" sz="1300" b="1" dirty="0">
                <a:solidFill>
                  <a:srgbClr val="FFFFFF"/>
                </a:solidFill>
              </a:rPr>
              <a:t>John Deere Germany</a:t>
            </a:r>
            <a:endParaRPr lang="en-US" sz="1300" dirty="0"/>
          </a:p>
        </p:txBody>
      </p:sp>
      <p:sp>
        <p:nvSpPr>
          <p:cNvPr id="15" name="Fakt Leitfrage"/>
          <p:cNvSpPr/>
          <p:nvPr/>
        </p:nvSpPr>
        <p:spPr>
          <a:xfrm>
            <a:off x="7863840" y="4105656"/>
            <a:ext cx="3840480" cy="914400"/>
          </a:xfrm>
          <a:prstGeom prst="roundRect">
            <a:avLst>
              <a:gd name="adj" fmla="val 8000"/>
            </a:avLst>
          </a:prstGeom>
          <a:solidFill>
            <a:srgbClr val="2B4C80"/>
          </a:solidFill>
          <a:ln w="12700">
            <a:solidFill>
              <a:srgbClr val="2B4C80"/>
            </a:solidFill>
            <a:prstDash val="solid"/>
          </a:ln>
        </p:spPr>
      </p:sp>
      <p:sp>
        <p:nvSpPr>
          <p:cNvPr id="16" name="Text 14"/>
          <p:cNvSpPr txBox="1"/>
          <p:nvPr/>
        </p:nvSpPr>
        <p:spPr>
          <a:xfrm>
            <a:off x="8046720" y="4215384"/>
            <a:ext cx="3474720" cy="228600"/>
          </a:xfrm>
          <a:prstGeom prst="rect">
            <a:avLst/>
          </a:prstGeom>
          <a:noFill/>
          <a:ln/>
        </p:spPr>
        <p:txBody>
          <a:bodyPr wrap="square" lIns="0" tIns="0" rIns="0" bIns="0" rtlCol="0" anchor="ctr"/>
          <a:lstStyle/>
          <a:p>
            <a:pPr indent="0" marL="0">
              <a:buNone/>
            </a:pPr>
            <a:r>
              <a:rPr lang="en-US" sz="1000" b="1" spc="200" kern="0" dirty="0">
                <a:solidFill>
                  <a:srgbClr val="9FC3E8"/>
                </a:solidFill>
              </a:rPr>
              <a:t>LEITFRAGE</a:t>
            </a:r>
            <a:endParaRPr lang="en-US" sz="1000" dirty="0"/>
          </a:p>
        </p:txBody>
      </p:sp>
      <p:sp>
        <p:nvSpPr>
          <p:cNvPr id="17" name="Text 15"/>
          <p:cNvSpPr txBox="1"/>
          <p:nvPr/>
        </p:nvSpPr>
        <p:spPr>
          <a:xfrm>
            <a:off x="8046720" y="4471416"/>
            <a:ext cx="3474720" cy="457200"/>
          </a:xfrm>
          <a:prstGeom prst="rect">
            <a:avLst/>
          </a:prstGeom>
          <a:noFill/>
          <a:ln/>
        </p:spPr>
        <p:txBody>
          <a:bodyPr wrap="square" lIns="0" tIns="0" rIns="0" bIns="0" rtlCol="0" anchor="t"/>
          <a:lstStyle/>
          <a:p>
            <a:pPr indent="0" marL="0">
              <a:buNone/>
            </a:pPr>
            <a:r>
              <a:rPr lang="en-US" sz="1300" b="1" dirty="0">
                <a:solidFill>
                  <a:srgbClr val="FFFFFF"/>
                </a:solidFill>
              </a:rPr>
              <a:t>„What’s in it for me?“ für jede Funktion</a:t>
            </a:r>
            <a:endParaRPr lang="en-US" sz="1300" dirty="0"/>
          </a:p>
        </p:txBody>
      </p:sp>
      <p:sp>
        <p:nvSpPr>
          <p:cNvPr id="18" name="Text 16"/>
          <p:cNvSpPr txBox="1"/>
          <p:nvPr/>
        </p:nvSpPr>
        <p:spPr>
          <a:xfrm>
            <a:off x="548640" y="6263640"/>
            <a:ext cx="9144000" cy="274320"/>
          </a:xfrm>
          <a:prstGeom prst="rect">
            <a:avLst/>
          </a:prstGeom>
          <a:noFill/>
          <a:ln/>
        </p:spPr>
        <p:txBody>
          <a:bodyPr wrap="square" lIns="0" tIns="0" rIns="0" bIns="0" rtlCol="0" anchor="ctr"/>
          <a:lstStyle/>
          <a:p>
            <a:pPr indent="0" marL="0">
              <a:buNone/>
            </a:pPr>
            <a:r>
              <a:rPr lang="en-US" sz="1100" dirty="0">
                <a:solidFill>
                  <a:srgbClr val="9FC3E8"/>
                </a:solidFill>
              </a:rPr>
              <a:t>THI Wirtschaftsinformatik-Projekt · Product Owner: Markus Herhoffer · Stand: 30.10.2026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28600"/>
          </a:xfrm>
          <a:prstGeom prst="rect">
            <a:avLst/>
          </a:prstGeom>
          <a:noFill/>
          <a:ln/>
        </p:spPr>
        <p:txBody>
          <a:bodyPr wrap="square" lIns="0" tIns="0" rIns="0" bIns="0" rtlCol="0" anchor="ctr"/>
          <a:lstStyle/>
          <a:p>
            <a:pPr indent="0" marL="0">
              <a:buNone/>
            </a:pPr>
            <a:r>
              <a:rPr lang="en-US" sz="1100" b="1" spc="200" kern="0" dirty="0">
                <a:solidFill>
                  <a:srgbClr val="C0392B"/>
                </a:solidFill>
              </a:rPr>
              <a:t>ZIELGRUPPE</a:t>
            </a:r>
            <a:endParaRPr lang="en-US" sz="1100" dirty="0"/>
          </a:p>
        </p:txBody>
      </p:sp>
      <p:sp>
        <p:nvSpPr>
          <p:cNvPr id="3" name="Titel"/>
          <p:cNvSpPr txBox="1"/>
          <p:nvPr/>
        </p:nvSpPr>
        <p:spPr>
          <a:xfrm>
            <a:off x="457200" y="530352"/>
            <a:ext cx="11247120" cy="548640"/>
          </a:xfrm>
          <a:prstGeom prst="rect">
            <a:avLst/>
          </a:prstGeom>
          <a:noFill/>
          <a:ln/>
        </p:spPr>
        <p:txBody>
          <a:bodyPr wrap="square" lIns="0" tIns="0" rIns="0" bIns="0" rtlCol="0" anchor="ctr"/>
          <a:lstStyle/>
          <a:p>
            <a:pPr indent="0" marL="0">
              <a:buNone/>
            </a:pPr>
            <a:r>
              <a:rPr lang="en-US" sz="2600" b="1" dirty="0">
                <a:solidFill>
                  <a:srgbClr val="1F3A68"/>
                </a:solidFill>
              </a:rPr>
              <a:t>Zwei Nutzerrollen mit unterschiedlichem Bedarf</a:t>
            </a:r>
            <a:endParaRPr lang="en-US" sz="2600" dirty="0"/>
          </a:p>
        </p:txBody>
      </p:sp>
      <p:sp>
        <p:nvSpPr>
          <p:cNvPr id="4" name="Text 2"/>
          <p:cNvSpPr txBox="1"/>
          <p:nvPr/>
        </p:nvSpPr>
        <p:spPr>
          <a:xfrm>
            <a:off x="457200" y="6400800"/>
            <a:ext cx="7315200" cy="228600"/>
          </a:xfrm>
          <a:prstGeom prst="rect">
            <a:avLst/>
          </a:prstGeom>
          <a:noFill/>
          <a:ln/>
        </p:spPr>
        <p:txBody>
          <a:bodyPr wrap="square" lIns="0" tIns="0" rIns="0" bIns="0" rtlCol="0" anchor="ctr"/>
          <a:lstStyle/>
          <a:p>
            <a:pPr indent="0" marL="0">
              <a:buNone/>
            </a:pPr>
            <a:r>
              <a:rPr lang="en-US" sz="950" dirty="0">
                <a:solidFill>
                  <a:srgbClr val="6B7A90"/>
                </a:solidFill>
              </a:rPr>
              <a:t>TerraMax · Stakeholder-Information · Stand 30.10.2026</a:t>
            </a:r>
            <a:endParaRPr lang="en-US" sz="950" dirty="0"/>
          </a:p>
        </p:txBody>
      </p:sp>
      <p:sp>
        <p:nvSpPr>
          <p:cNvPr id="5" name="Text 3"/>
          <p:cNvSpPr txBox="1"/>
          <p:nvPr/>
        </p:nvSpPr>
        <p:spPr>
          <a:xfrm>
            <a:off x="10789920" y="6400800"/>
            <a:ext cx="941832" cy="228600"/>
          </a:xfrm>
          <a:prstGeom prst="rect">
            <a:avLst/>
          </a:prstGeom>
          <a:noFill/>
          <a:ln/>
        </p:spPr>
        <p:txBody>
          <a:bodyPr wrap="square" lIns="0" tIns="0" rIns="0" bIns="0" rtlCol="0" anchor="ctr"/>
          <a:lstStyle/>
          <a:p>
            <a:pPr algn="r" indent="0" marL="0">
              <a:buNone/>
            </a:pPr>
            <a:r>
              <a:rPr lang="en-US" sz="950" dirty="0">
                <a:solidFill>
                  <a:srgbClr val="6B7A90"/>
                </a:solidFill>
              </a:rPr>
              <a:t>2 / 5</a:t>
            </a:r>
            <a:endParaRPr lang="en-US" sz="950" dirty="0"/>
          </a:p>
        </p:txBody>
      </p:sp>
      <p:sp>
        <p:nvSpPr>
          <p:cNvPr id="6" name="Box Dealer Principal (Geschäftsführer des Händlers)"/>
          <p:cNvSpPr/>
          <p:nvPr/>
        </p:nvSpPr>
        <p:spPr>
          <a:xfrm>
            <a:off x="457200" y="1280160"/>
            <a:ext cx="5532120" cy="2743200"/>
          </a:xfrm>
          <a:prstGeom prst="roundRect">
            <a:avLst>
              <a:gd name="adj" fmla="val 2667"/>
            </a:avLst>
          </a:prstGeom>
          <a:solidFill>
            <a:srgbClr val="EEF2F7"/>
          </a:solidFill>
          <a:ln w="12700">
            <a:solidFill>
              <a:srgbClr val="EEF2F7"/>
            </a:solidFill>
            <a:prstDash val="solid"/>
          </a:ln>
        </p:spPr>
      </p:sp>
      <p:sp>
        <p:nvSpPr>
          <p:cNvPr id="7" name="Text 5"/>
          <p:cNvSpPr txBox="1"/>
          <p:nvPr/>
        </p:nvSpPr>
        <p:spPr>
          <a:xfrm>
            <a:off x="640080" y="1408176"/>
            <a:ext cx="5166360" cy="292608"/>
          </a:xfrm>
          <a:prstGeom prst="rect">
            <a:avLst/>
          </a:prstGeom>
          <a:noFill/>
          <a:ln/>
        </p:spPr>
        <p:txBody>
          <a:bodyPr wrap="square" lIns="0" tIns="0" rIns="0" bIns="0" rtlCol="0" anchor="ctr"/>
          <a:lstStyle/>
          <a:p>
            <a:pPr indent="0" marL="0">
              <a:buNone/>
            </a:pPr>
            <a:r>
              <a:rPr lang="en-US" sz="1700" b="1" dirty="0">
                <a:solidFill>
                  <a:srgbClr val="1F3A68"/>
                </a:solidFill>
              </a:rPr>
              <a:t>Dealer Principal (Geschäftsführer des Händlers)</a:t>
            </a:r>
            <a:endParaRPr lang="en-US" sz="1700" dirty="0"/>
          </a:p>
        </p:txBody>
      </p:sp>
      <p:sp>
        <p:nvSpPr>
          <p:cNvPr id="8" name="Liste DP"/>
          <p:cNvSpPr txBox="1"/>
          <p:nvPr/>
        </p:nvSpPr>
        <p:spPr>
          <a:xfrm>
            <a:off x="640080" y="1783080"/>
            <a:ext cx="5166360" cy="2148840"/>
          </a:xfrm>
          <a:prstGeom prst="rect">
            <a:avLst/>
          </a:prstGeom>
          <a:noFill/>
          <a:ln/>
        </p:spPr>
        <p:txBody>
          <a:bodyPr wrap="square" lIns="0" tIns="0" rIns="0" bIns="0" rtlCol="0" anchor="t"/>
          <a:lstStyle/>
          <a:p>
            <a:pPr indent="-171450" marL="171450">
              <a:spcAft>
                <a:spcPts val="500"/>
              </a:spcAft>
              <a:buFont typeface="Arial"/>
              <a:buChar char="•"/>
            </a:pPr>
            <a:r>
              <a:rPr lang="en-US" sz="1500" dirty="0">
                <a:solidFill>
                  <a:srgbClr val="1B1F27"/>
                </a:solidFill>
              </a:rPr>
              <a:t>Entscheidet, wo eine neue Niederlassung entsteht</a:t>
            </a:r>
            <a:endParaRPr lang="en-US" sz="1500" dirty="0"/>
          </a:p>
          <a:p>
            <a:pPr indent="-171450" marL="171450">
              <a:spcAft>
                <a:spcPts val="500"/>
              </a:spcAft>
              <a:buFont typeface="Arial"/>
              <a:buChar char="•"/>
            </a:pPr>
            <a:r>
              <a:rPr lang="en-US" sz="1500" dirty="0">
                <a:solidFill>
                  <a:srgbClr val="1B1F27"/>
                </a:solidFill>
              </a:rPr>
              <a:t>Will wissen: Wo liegt mein Markt, wo bin ich präsent, wo fehlt Betreuung?</a:t>
            </a:r>
            <a:endParaRPr lang="en-US" sz="1500" dirty="0"/>
          </a:p>
          <a:p>
            <a:pPr indent="-171450" marL="171450">
              <a:spcAft>
                <a:spcPts val="500"/>
              </a:spcAft>
              <a:buFont typeface="Arial"/>
              <a:buChar char="•"/>
            </a:pPr>
            <a:r>
              <a:rPr lang="en-US" sz="1500" dirty="0">
                <a:solidFill>
                  <a:srgbClr val="1B1F27"/>
                </a:solidFill>
              </a:rPr>
              <a:t>Arbeitet am Desktop, braucht Begründungen und Vergleiche</a:t>
            </a:r>
            <a:endParaRPr lang="en-US" sz="1500" dirty="0"/>
          </a:p>
          <a:p>
            <a:pPr indent="-171450" marL="171450">
              <a:spcAft>
                <a:spcPts val="500"/>
              </a:spcAft>
              <a:buFont typeface="Arial"/>
              <a:buChar char="•"/>
            </a:pPr>
            <a:r>
              <a:rPr lang="en-US" sz="1500" dirty="0">
                <a:solidFill>
                  <a:srgbClr val="1B1F27"/>
                </a:solidFill>
              </a:rPr>
              <a:t>Servicestandard: kein Kunde mehr als 1 Stunde Fahrzeit vom Standort</a:t>
            </a:r>
            <a:endParaRPr lang="en-US" sz="1500" dirty="0"/>
          </a:p>
        </p:txBody>
      </p:sp>
      <p:sp>
        <p:nvSpPr>
          <p:cNvPr id="9" name="Box Sales Professional (Außendienst)"/>
          <p:cNvSpPr/>
          <p:nvPr/>
        </p:nvSpPr>
        <p:spPr>
          <a:xfrm>
            <a:off x="6199632" y="1280160"/>
            <a:ext cx="5532120" cy="2743200"/>
          </a:xfrm>
          <a:prstGeom prst="roundRect">
            <a:avLst>
              <a:gd name="adj" fmla="val 2667"/>
            </a:avLst>
          </a:prstGeom>
          <a:solidFill>
            <a:srgbClr val="EEF2F7"/>
          </a:solidFill>
          <a:ln w="12700">
            <a:solidFill>
              <a:srgbClr val="EEF2F7"/>
            </a:solidFill>
            <a:prstDash val="solid"/>
          </a:ln>
        </p:spPr>
      </p:sp>
      <p:sp>
        <p:nvSpPr>
          <p:cNvPr id="10" name="Text 8"/>
          <p:cNvSpPr txBox="1"/>
          <p:nvPr/>
        </p:nvSpPr>
        <p:spPr>
          <a:xfrm>
            <a:off x="6382512" y="1408176"/>
            <a:ext cx="5166360" cy="292608"/>
          </a:xfrm>
          <a:prstGeom prst="rect">
            <a:avLst/>
          </a:prstGeom>
          <a:noFill/>
          <a:ln/>
        </p:spPr>
        <p:txBody>
          <a:bodyPr wrap="square" lIns="0" tIns="0" rIns="0" bIns="0" rtlCol="0" anchor="ctr"/>
          <a:lstStyle/>
          <a:p>
            <a:pPr indent="0" marL="0">
              <a:buNone/>
            </a:pPr>
            <a:r>
              <a:rPr lang="en-US" sz="1700" b="1" dirty="0">
                <a:solidFill>
                  <a:srgbClr val="1F3A68"/>
                </a:solidFill>
              </a:rPr>
              <a:t>Sales Professional (Außendienst)</a:t>
            </a:r>
            <a:endParaRPr lang="en-US" sz="1700" dirty="0"/>
          </a:p>
        </p:txBody>
      </p:sp>
      <p:sp>
        <p:nvSpPr>
          <p:cNvPr id="11" name="Liste SP"/>
          <p:cNvSpPr txBox="1"/>
          <p:nvPr/>
        </p:nvSpPr>
        <p:spPr>
          <a:xfrm>
            <a:off x="6382512" y="1783080"/>
            <a:ext cx="5166360" cy="2148840"/>
          </a:xfrm>
          <a:prstGeom prst="rect">
            <a:avLst/>
          </a:prstGeom>
          <a:noFill/>
          <a:ln/>
        </p:spPr>
        <p:txBody>
          <a:bodyPr wrap="square" lIns="0" tIns="0" rIns="0" bIns="0" rtlCol="0" anchor="t"/>
          <a:lstStyle/>
          <a:p>
            <a:pPr indent="-171450" marL="171450">
              <a:spcAft>
                <a:spcPts val="500"/>
              </a:spcAft>
              <a:buFont typeface="Arial"/>
              <a:buChar char="•"/>
            </a:pPr>
            <a:r>
              <a:rPr lang="en-US" sz="1500" dirty="0">
                <a:solidFill>
                  <a:srgbClr val="1B1F27"/>
                </a:solidFill>
              </a:rPr>
              <a:t>Ist täglich bei Kunden, plant Besuche und Vorführungen</a:t>
            </a:r>
            <a:endParaRPr lang="en-US" sz="1500" dirty="0"/>
          </a:p>
          <a:p>
            <a:pPr indent="-171450" marL="171450">
              <a:spcAft>
                <a:spcPts val="500"/>
              </a:spcAft>
              <a:buFont typeface="Arial"/>
              <a:buChar char="•"/>
            </a:pPr>
            <a:r>
              <a:rPr lang="en-US" sz="1500" dirty="0">
                <a:solidFill>
                  <a:srgbClr val="1B1F27"/>
                </a:solidFill>
              </a:rPr>
              <a:t>Will wissen: Wo werde ich gebraucht, was mache ich als Nächstes?</a:t>
            </a:r>
            <a:endParaRPr lang="en-US" sz="1500" dirty="0"/>
          </a:p>
          <a:p>
            <a:pPr indent="-171450" marL="171450">
              <a:spcAft>
                <a:spcPts val="500"/>
              </a:spcAft>
              <a:buFont typeface="Arial"/>
              <a:buChar char="•"/>
            </a:pPr>
            <a:r>
              <a:rPr lang="en-US" sz="1500" dirty="0">
                <a:solidFill>
                  <a:srgbClr val="1B1F27"/>
                </a:solidFill>
              </a:rPr>
              <a:t>Arbeitet mobil, wenig Geduld für lange Auswertungen</a:t>
            </a:r>
            <a:endParaRPr lang="en-US" sz="1500" dirty="0"/>
          </a:p>
          <a:p>
            <a:pPr indent="-171450" marL="171450">
              <a:spcAft>
                <a:spcPts val="500"/>
              </a:spcAft>
              <a:buFont typeface="Arial"/>
              <a:buChar char="•"/>
            </a:pPr>
            <a:r>
              <a:rPr lang="en-US" sz="1500" dirty="0">
                <a:solidFill>
                  <a:srgbClr val="1B1F27"/>
                </a:solidFill>
              </a:rPr>
              <a:t>Erwartet wenige, priorisierte Hinweise statt langer Listen</a:t>
            </a:r>
            <a:endParaRPr lang="en-US" sz="1500" dirty="0"/>
          </a:p>
        </p:txBody>
      </p:sp>
      <p:sp>
        <p:nvSpPr>
          <p:cNvPr id="12" name="Text 10"/>
          <p:cNvSpPr txBox="1"/>
          <p:nvPr/>
        </p:nvSpPr>
        <p:spPr>
          <a:xfrm>
            <a:off x="457200" y="4206240"/>
            <a:ext cx="10972800" cy="292608"/>
          </a:xfrm>
          <a:prstGeom prst="rect">
            <a:avLst/>
          </a:prstGeom>
          <a:noFill/>
          <a:ln/>
        </p:spPr>
        <p:txBody>
          <a:bodyPr wrap="square" lIns="0" tIns="0" rIns="0" bIns="0" rtlCol="0" anchor="ctr"/>
          <a:lstStyle/>
          <a:p>
            <a:pPr indent="0" marL="0">
              <a:buNone/>
            </a:pPr>
            <a:r>
              <a:rPr lang="en-US" sz="1400" b="1" dirty="0">
                <a:solidFill>
                  <a:srgbClr val="1F3A68"/>
                </a:solidFill>
              </a:rPr>
              <a:t>Drei MVP-Fähigkeiten laut Stakeholder-Interview</a:t>
            </a:r>
            <a:endParaRPr lang="en-US" sz="1400" dirty="0"/>
          </a:p>
        </p:txBody>
      </p:sp>
      <p:sp>
        <p:nvSpPr>
          <p:cNvPr id="13" name="Faehigkeit 1"/>
          <p:cNvSpPr/>
          <p:nvPr/>
        </p:nvSpPr>
        <p:spPr>
          <a:xfrm>
            <a:off x="457200" y="4590288"/>
            <a:ext cx="3657600" cy="1600200"/>
          </a:xfrm>
          <a:prstGeom prst="roundRect">
            <a:avLst>
              <a:gd name="adj" fmla="val 4571"/>
            </a:avLst>
          </a:prstGeom>
          <a:solidFill>
            <a:srgbClr val="E3F0DE"/>
          </a:solidFill>
          <a:ln w="12700">
            <a:solidFill>
              <a:srgbClr val="E3F0DE"/>
            </a:solidFill>
            <a:prstDash val="solid"/>
          </a:ln>
        </p:spPr>
      </p:sp>
      <p:sp>
        <p:nvSpPr>
          <p:cNvPr id="14" name="Shape 12"/>
          <p:cNvSpPr/>
          <p:nvPr/>
        </p:nvSpPr>
        <p:spPr>
          <a:xfrm>
            <a:off x="640080" y="4754880"/>
            <a:ext cx="457200" cy="457200"/>
          </a:xfrm>
          <a:prstGeom prst="ellipse">
            <a:avLst/>
          </a:prstGeom>
          <a:solidFill>
            <a:srgbClr val="1F3A68"/>
          </a:solidFill>
          <a:ln w="12700">
            <a:solidFill>
              <a:srgbClr val="1F3A68"/>
            </a:solidFill>
            <a:prstDash val="solid"/>
          </a:ln>
        </p:spPr>
      </p:sp>
      <p:sp>
        <p:nvSpPr>
          <p:cNvPr id="15" name="Text 13"/>
          <p:cNvSpPr txBox="1"/>
          <p:nvPr/>
        </p:nvSpPr>
        <p:spPr>
          <a:xfrm>
            <a:off x="640080" y="4754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6" name="Text 14"/>
          <p:cNvSpPr txBox="1"/>
          <p:nvPr/>
        </p:nvSpPr>
        <p:spPr>
          <a:xfrm>
            <a:off x="1234440" y="4754880"/>
            <a:ext cx="2743200" cy="457200"/>
          </a:xfrm>
          <a:prstGeom prst="rect">
            <a:avLst/>
          </a:prstGeom>
          <a:noFill/>
          <a:ln/>
        </p:spPr>
        <p:txBody>
          <a:bodyPr wrap="square" lIns="0" tIns="0" rIns="0" bIns="0" rtlCol="0" anchor="ctr"/>
          <a:lstStyle/>
          <a:p>
            <a:pPr indent="0" marL="0">
              <a:buNone/>
            </a:pPr>
            <a:r>
              <a:rPr lang="en-US" sz="1500" b="1" dirty="0">
                <a:solidFill>
                  <a:srgbClr val="1F3A68"/>
                </a:solidFill>
              </a:rPr>
              <a:t>Überblick über das eigene Gebiet</a:t>
            </a:r>
            <a:endParaRPr lang="en-US" sz="1500" dirty="0"/>
          </a:p>
        </p:txBody>
      </p:sp>
      <p:sp>
        <p:nvSpPr>
          <p:cNvPr id="17" name="Text 15"/>
          <p:cNvSpPr txBox="1"/>
          <p:nvPr/>
        </p:nvSpPr>
        <p:spPr>
          <a:xfrm>
            <a:off x="640080" y="5349240"/>
            <a:ext cx="3291840" cy="777240"/>
          </a:xfrm>
          <a:prstGeom prst="rect">
            <a:avLst/>
          </a:prstGeom>
          <a:noFill/>
          <a:ln/>
        </p:spPr>
        <p:txBody>
          <a:bodyPr wrap="square" lIns="0" tIns="0" rIns="0" bIns="0" rtlCol="0" anchor="t"/>
          <a:lstStyle/>
          <a:p>
            <a:pPr indent="0" marL="0">
              <a:buNone/>
            </a:pPr>
            <a:r>
              <a:rPr lang="en-US" sz="1400" dirty="0">
                <a:solidFill>
                  <a:srgbClr val="1B1F27"/>
                </a:solidFill>
              </a:rPr>
              <a:t>Standorte, Kunden, Wettbewerber und Chancen auf einer Karte</a:t>
            </a:r>
            <a:endParaRPr lang="en-US" sz="1400" dirty="0"/>
          </a:p>
        </p:txBody>
      </p:sp>
      <p:sp>
        <p:nvSpPr>
          <p:cNvPr id="18" name="Faehigkeit 2"/>
          <p:cNvSpPr/>
          <p:nvPr/>
        </p:nvSpPr>
        <p:spPr>
          <a:xfrm>
            <a:off x="4279392" y="4590288"/>
            <a:ext cx="3657600" cy="1600200"/>
          </a:xfrm>
          <a:prstGeom prst="roundRect">
            <a:avLst>
              <a:gd name="adj" fmla="val 4571"/>
            </a:avLst>
          </a:prstGeom>
          <a:solidFill>
            <a:srgbClr val="E3F0DE"/>
          </a:solidFill>
          <a:ln w="12700">
            <a:solidFill>
              <a:srgbClr val="E3F0DE"/>
            </a:solidFill>
            <a:prstDash val="solid"/>
          </a:ln>
        </p:spPr>
      </p:sp>
      <p:sp>
        <p:nvSpPr>
          <p:cNvPr id="19" name="Shape 17"/>
          <p:cNvSpPr/>
          <p:nvPr/>
        </p:nvSpPr>
        <p:spPr>
          <a:xfrm>
            <a:off x="4462272" y="4754880"/>
            <a:ext cx="457200" cy="457200"/>
          </a:xfrm>
          <a:prstGeom prst="ellipse">
            <a:avLst/>
          </a:prstGeom>
          <a:solidFill>
            <a:srgbClr val="1F3A68"/>
          </a:solidFill>
          <a:ln w="12700">
            <a:solidFill>
              <a:srgbClr val="1F3A68"/>
            </a:solidFill>
            <a:prstDash val="solid"/>
          </a:ln>
        </p:spPr>
      </p:sp>
      <p:sp>
        <p:nvSpPr>
          <p:cNvPr id="20" name="Text 18"/>
          <p:cNvSpPr txBox="1"/>
          <p:nvPr/>
        </p:nvSpPr>
        <p:spPr>
          <a:xfrm>
            <a:off x="4462272" y="4754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1" name="Text 19"/>
          <p:cNvSpPr txBox="1"/>
          <p:nvPr/>
        </p:nvSpPr>
        <p:spPr>
          <a:xfrm>
            <a:off x="5056632" y="4754880"/>
            <a:ext cx="2743200" cy="457200"/>
          </a:xfrm>
          <a:prstGeom prst="rect">
            <a:avLst/>
          </a:prstGeom>
          <a:noFill/>
          <a:ln/>
        </p:spPr>
        <p:txBody>
          <a:bodyPr wrap="square" lIns="0" tIns="0" rIns="0" bIns="0" rtlCol="0" anchor="ctr"/>
          <a:lstStyle/>
          <a:p>
            <a:pPr indent="0" marL="0">
              <a:buNone/>
            </a:pPr>
            <a:r>
              <a:rPr lang="en-US" sz="1500" b="1" dirty="0">
                <a:solidFill>
                  <a:srgbClr val="1F3A68"/>
                </a:solidFill>
              </a:rPr>
              <a:t>Anbindung bestehender Daten</a:t>
            </a:r>
            <a:endParaRPr lang="en-US" sz="1500" dirty="0"/>
          </a:p>
        </p:txBody>
      </p:sp>
      <p:sp>
        <p:nvSpPr>
          <p:cNvPr id="22" name="Text 20"/>
          <p:cNvSpPr txBox="1"/>
          <p:nvPr/>
        </p:nvSpPr>
        <p:spPr>
          <a:xfrm>
            <a:off x="4462272" y="5349240"/>
            <a:ext cx="3291840" cy="777240"/>
          </a:xfrm>
          <a:prstGeom prst="rect">
            <a:avLst/>
          </a:prstGeom>
          <a:noFill/>
          <a:ln/>
        </p:spPr>
        <p:txBody>
          <a:bodyPr wrap="square" lIns="0" tIns="0" rIns="0" bIns="0" rtlCol="0" anchor="t"/>
          <a:lstStyle/>
          <a:p>
            <a:pPr indent="0" marL="0">
              <a:buNone/>
            </a:pPr>
            <a:r>
              <a:rPr lang="en-US" sz="1400" dirty="0">
                <a:solidFill>
                  <a:srgbClr val="1B1F27"/>
                </a:solidFill>
              </a:rPr>
              <a:t>Kundendaten aus CRM/ERP; im Proof of Concept als statische Tabelle</a:t>
            </a:r>
            <a:endParaRPr lang="en-US" sz="1400" dirty="0"/>
          </a:p>
        </p:txBody>
      </p:sp>
      <p:sp>
        <p:nvSpPr>
          <p:cNvPr id="23" name="Faehigkeit 3"/>
          <p:cNvSpPr/>
          <p:nvPr/>
        </p:nvSpPr>
        <p:spPr>
          <a:xfrm>
            <a:off x="8101584" y="4590288"/>
            <a:ext cx="3657600" cy="1600200"/>
          </a:xfrm>
          <a:prstGeom prst="roundRect">
            <a:avLst>
              <a:gd name="adj" fmla="val 4571"/>
            </a:avLst>
          </a:prstGeom>
          <a:solidFill>
            <a:srgbClr val="E3F0DE"/>
          </a:solidFill>
          <a:ln w="12700">
            <a:solidFill>
              <a:srgbClr val="E3F0DE"/>
            </a:solidFill>
            <a:prstDash val="solid"/>
          </a:ln>
        </p:spPr>
      </p:sp>
      <p:sp>
        <p:nvSpPr>
          <p:cNvPr id="24" name="Shape 22"/>
          <p:cNvSpPr/>
          <p:nvPr/>
        </p:nvSpPr>
        <p:spPr>
          <a:xfrm>
            <a:off x="8284464" y="4754880"/>
            <a:ext cx="457200" cy="457200"/>
          </a:xfrm>
          <a:prstGeom prst="ellipse">
            <a:avLst/>
          </a:prstGeom>
          <a:solidFill>
            <a:srgbClr val="1F3A68"/>
          </a:solidFill>
          <a:ln w="12700">
            <a:solidFill>
              <a:srgbClr val="1F3A68"/>
            </a:solidFill>
            <a:prstDash val="solid"/>
          </a:ln>
        </p:spPr>
      </p:sp>
      <p:sp>
        <p:nvSpPr>
          <p:cNvPr id="25" name="Text 23"/>
          <p:cNvSpPr txBox="1"/>
          <p:nvPr/>
        </p:nvSpPr>
        <p:spPr>
          <a:xfrm>
            <a:off x="8284464" y="4754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6" name="Text 24"/>
          <p:cNvSpPr txBox="1"/>
          <p:nvPr/>
        </p:nvSpPr>
        <p:spPr>
          <a:xfrm>
            <a:off x="8878824" y="4754880"/>
            <a:ext cx="2743200" cy="457200"/>
          </a:xfrm>
          <a:prstGeom prst="rect">
            <a:avLst/>
          </a:prstGeom>
          <a:noFill/>
          <a:ln/>
        </p:spPr>
        <p:txBody>
          <a:bodyPr wrap="square" lIns="0" tIns="0" rIns="0" bIns="0" rtlCol="0" anchor="ctr"/>
          <a:lstStyle/>
          <a:p>
            <a:pPr indent="0" marL="0">
              <a:buNone/>
            </a:pPr>
            <a:r>
              <a:rPr lang="en-US" sz="1500" b="1" dirty="0">
                <a:solidFill>
                  <a:srgbClr val="1F3A68"/>
                </a:solidFill>
              </a:rPr>
              <a:t>Planung unterstützen</a:t>
            </a:r>
            <a:endParaRPr lang="en-US" sz="1500" dirty="0"/>
          </a:p>
        </p:txBody>
      </p:sp>
      <p:sp>
        <p:nvSpPr>
          <p:cNvPr id="27" name="Text 25"/>
          <p:cNvSpPr txBox="1"/>
          <p:nvPr/>
        </p:nvSpPr>
        <p:spPr>
          <a:xfrm>
            <a:off x="8284464" y="5349240"/>
            <a:ext cx="3291840" cy="777240"/>
          </a:xfrm>
          <a:prstGeom prst="rect">
            <a:avLst/>
          </a:prstGeom>
          <a:noFill/>
          <a:ln/>
        </p:spPr>
        <p:txBody>
          <a:bodyPr wrap="square" lIns="0" tIns="0" rIns="0" bIns="0" rtlCol="0" anchor="t"/>
          <a:lstStyle/>
          <a:p>
            <a:pPr indent="0" marL="0">
              <a:buNone/>
            </a:pPr>
            <a:r>
              <a:rPr lang="en-US" sz="1400" dirty="0">
                <a:solidFill>
                  <a:srgbClr val="1B1F27"/>
                </a:solidFill>
              </a:rPr>
              <a:t>Lücken in der Abdeckung erkennen und nächste Schritte ableiten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28600"/>
          </a:xfrm>
          <a:prstGeom prst="rect">
            <a:avLst/>
          </a:prstGeom>
          <a:noFill/>
          <a:ln/>
        </p:spPr>
        <p:txBody>
          <a:bodyPr wrap="square" lIns="0" tIns="0" rIns="0" bIns="0" rtlCol="0" anchor="ctr"/>
          <a:lstStyle/>
          <a:p>
            <a:pPr indent="0" marL="0">
              <a:buNone/>
            </a:pPr>
            <a:r>
              <a:rPr lang="en-US" sz="1100" b="1" spc="200" kern="0" dirty="0">
                <a:solidFill>
                  <a:srgbClr val="C0392B"/>
                </a:solidFill>
              </a:rPr>
              <a:t>SOLUTION SCOPE</a:t>
            </a:r>
            <a:endParaRPr lang="en-US" sz="1100" dirty="0"/>
          </a:p>
        </p:txBody>
      </p:sp>
      <p:sp>
        <p:nvSpPr>
          <p:cNvPr id="3" name="Titel"/>
          <p:cNvSpPr txBox="1"/>
          <p:nvPr/>
        </p:nvSpPr>
        <p:spPr>
          <a:xfrm>
            <a:off x="457200" y="530352"/>
            <a:ext cx="11247120" cy="548640"/>
          </a:xfrm>
          <a:prstGeom prst="rect">
            <a:avLst/>
          </a:prstGeom>
          <a:noFill/>
          <a:ln/>
        </p:spPr>
        <p:txBody>
          <a:bodyPr wrap="square" lIns="0" tIns="0" rIns="0" bIns="0" rtlCol="0" anchor="ctr"/>
          <a:lstStyle/>
          <a:p>
            <a:pPr indent="0" marL="0">
              <a:buNone/>
            </a:pPr>
            <a:r>
              <a:rPr lang="en-US" sz="2600" b="1" dirty="0">
                <a:solidFill>
                  <a:srgbClr val="1F3A68"/>
                </a:solidFill>
              </a:rPr>
              <a:t>Was das MVP umfasst und was bewusst nicht</a:t>
            </a:r>
            <a:endParaRPr lang="en-US" sz="2600" dirty="0"/>
          </a:p>
        </p:txBody>
      </p:sp>
      <p:sp>
        <p:nvSpPr>
          <p:cNvPr id="4" name="Text 2"/>
          <p:cNvSpPr txBox="1"/>
          <p:nvPr/>
        </p:nvSpPr>
        <p:spPr>
          <a:xfrm>
            <a:off x="457200" y="6400800"/>
            <a:ext cx="7315200" cy="228600"/>
          </a:xfrm>
          <a:prstGeom prst="rect">
            <a:avLst/>
          </a:prstGeom>
          <a:noFill/>
          <a:ln/>
        </p:spPr>
        <p:txBody>
          <a:bodyPr wrap="square" lIns="0" tIns="0" rIns="0" bIns="0" rtlCol="0" anchor="ctr"/>
          <a:lstStyle/>
          <a:p>
            <a:pPr indent="0" marL="0">
              <a:buNone/>
            </a:pPr>
            <a:r>
              <a:rPr lang="en-US" sz="950" dirty="0">
                <a:solidFill>
                  <a:srgbClr val="6B7A90"/>
                </a:solidFill>
              </a:rPr>
              <a:t>TerraMax · Stakeholder-Information · Stand 30.10.2026</a:t>
            </a:r>
            <a:endParaRPr lang="en-US" sz="950" dirty="0"/>
          </a:p>
        </p:txBody>
      </p:sp>
      <p:sp>
        <p:nvSpPr>
          <p:cNvPr id="5" name="Text 3"/>
          <p:cNvSpPr txBox="1"/>
          <p:nvPr/>
        </p:nvSpPr>
        <p:spPr>
          <a:xfrm>
            <a:off x="10789920" y="6400800"/>
            <a:ext cx="941832" cy="228600"/>
          </a:xfrm>
          <a:prstGeom prst="rect">
            <a:avLst/>
          </a:prstGeom>
          <a:noFill/>
          <a:ln/>
        </p:spPr>
        <p:txBody>
          <a:bodyPr wrap="square" lIns="0" tIns="0" rIns="0" bIns="0" rtlCol="0" anchor="ctr"/>
          <a:lstStyle/>
          <a:p>
            <a:pPr algn="r" indent="0" marL="0">
              <a:buNone/>
            </a:pPr>
            <a:r>
              <a:rPr lang="en-US" sz="950" dirty="0">
                <a:solidFill>
                  <a:srgbClr val="6B7A90"/>
                </a:solidFill>
              </a:rPr>
              <a:t>3 / 5</a:t>
            </a:r>
            <a:endParaRPr lang="en-US" sz="950" dirty="0"/>
          </a:p>
        </p:txBody>
      </p:sp>
      <p:sp>
        <p:nvSpPr>
          <p:cNvPr id="6" name="Box Im MVP enthalten"/>
          <p:cNvSpPr/>
          <p:nvPr/>
        </p:nvSpPr>
        <p:spPr>
          <a:xfrm>
            <a:off x="457200" y="1280160"/>
            <a:ext cx="5532120" cy="4937760"/>
          </a:xfrm>
          <a:prstGeom prst="roundRect">
            <a:avLst>
              <a:gd name="adj" fmla="val 1481"/>
            </a:avLst>
          </a:prstGeom>
          <a:solidFill>
            <a:srgbClr val="E3F0DE"/>
          </a:solidFill>
          <a:ln w="12700">
            <a:solidFill>
              <a:srgbClr val="E3F0DE"/>
            </a:solidFill>
            <a:prstDash val="solid"/>
          </a:ln>
        </p:spPr>
      </p:sp>
      <p:sp>
        <p:nvSpPr>
          <p:cNvPr id="7" name="Text 5"/>
          <p:cNvSpPr txBox="1"/>
          <p:nvPr/>
        </p:nvSpPr>
        <p:spPr>
          <a:xfrm>
            <a:off x="640080" y="1408176"/>
            <a:ext cx="5166360" cy="292608"/>
          </a:xfrm>
          <a:prstGeom prst="rect">
            <a:avLst/>
          </a:prstGeom>
          <a:noFill/>
          <a:ln/>
        </p:spPr>
        <p:txBody>
          <a:bodyPr wrap="square" lIns="0" tIns="0" rIns="0" bIns="0" rtlCol="0" anchor="ctr"/>
          <a:lstStyle/>
          <a:p>
            <a:pPr indent="0" marL="0">
              <a:buNone/>
            </a:pPr>
            <a:r>
              <a:rPr lang="en-US" sz="1700" b="1" dirty="0">
                <a:solidFill>
                  <a:srgbClr val="3E7C3A"/>
                </a:solidFill>
              </a:rPr>
              <a:t>Im MVP enthalten</a:t>
            </a:r>
            <a:endParaRPr lang="en-US" sz="1700" dirty="0"/>
          </a:p>
        </p:txBody>
      </p:sp>
      <p:sp>
        <p:nvSpPr>
          <p:cNvPr id="8" name="Liste In"/>
          <p:cNvSpPr txBox="1"/>
          <p:nvPr/>
        </p:nvSpPr>
        <p:spPr>
          <a:xfrm>
            <a:off x="640080" y="1783080"/>
            <a:ext cx="5166360" cy="4343400"/>
          </a:xfrm>
          <a:prstGeom prst="rect">
            <a:avLst/>
          </a:prstGeom>
          <a:noFill/>
          <a:ln/>
        </p:spPr>
        <p:txBody>
          <a:bodyPr wrap="square" lIns="0" tIns="0" rIns="0" bIns="0" rtlCol="0" anchor="t"/>
          <a:lstStyle/>
          <a:p>
            <a:pPr indent="-171450" marL="171450">
              <a:spcAft>
                <a:spcPts val="500"/>
              </a:spcAft>
              <a:buFont typeface="Arial"/>
              <a:buChar char="•"/>
            </a:pPr>
            <a:r>
              <a:rPr lang="en-US" sz="1450" b="1" dirty="0">
                <a:solidFill>
                  <a:srgbClr val="1B1F27"/>
                </a:solidFill>
              </a:rPr>
              <a:t>Marktkarte: </a:t>
            </a:r>
            <a:r>
              <a:rPr lang="en-US" sz="1450" dirty="0">
                <a:solidFill>
                  <a:srgbClr val="1B1F27"/>
                </a:solidFill>
              </a:rPr>
              <a:t>Agrarmarktkarte für Österreich als H3-Raster mit Anbauflächen je Zelle</a:t>
            </a:r>
            <a:endParaRPr lang="en-US" sz="1450" dirty="0"/>
          </a:p>
          <a:p>
            <a:pPr indent="-171450" marL="171450">
              <a:spcAft>
                <a:spcPts val="500"/>
              </a:spcAft>
              <a:buFont typeface="Arial"/>
              <a:buChar char="•"/>
            </a:pPr>
            <a:r>
              <a:rPr lang="en-US" sz="1450" b="1" dirty="0">
                <a:solidFill>
                  <a:srgbClr val="1B1F27"/>
                </a:solidFill>
              </a:rPr>
              <a:t>Eigene Präsenz: </a:t>
            </a:r>
            <a:r>
              <a:rPr lang="en-US" sz="1450" dirty="0">
                <a:solidFill>
                  <a:srgbClr val="1B1F27"/>
                </a:solidFill>
              </a:rPr>
              <a:t>eigene Standorte, Vertriebsgebiete und Kunden (aus statischer Tabelle)</a:t>
            </a:r>
            <a:endParaRPr lang="en-US" sz="1450" dirty="0"/>
          </a:p>
          <a:p>
            <a:pPr indent="-171450" marL="171450">
              <a:spcAft>
                <a:spcPts val="500"/>
              </a:spcAft>
              <a:buFont typeface="Arial"/>
              <a:buChar char="•"/>
            </a:pPr>
            <a:r>
              <a:rPr lang="en-US" sz="1450" b="1" dirty="0">
                <a:solidFill>
                  <a:srgbClr val="1B1F27"/>
                </a:solidFill>
              </a:rPr>
              <a:t>Lücken: </a:t>
            </a:r>
            <a:r>
              <a:rPr lang="en-US" sz="1450" dirty="0">
                <a:solidFill>
                  <a:srgbClr val="1B1F27"/>
                </a:solidFill>
              </a:rPr>
              <a:t>Gebiete mit Potenzial und geringer Abdeckung, 1-Stunden-Fahrzeitzonen</a:t>
            </a:r>
            <a:endParaRPr lang="en-US" sz="1450" dirty="0"/>
          </a:p>
          <a:p>
            <a:pPr indent="-171450" marL="171450">
              <a:spcAft>
                <a:spcPts val="500"/>
              </a:spcAft>
              <a:buFont typeface="Arial"/>
              <a:buChar char="•"/>
            </a:pPr>
            <a:r>
              <a:rPr lang="en-US" sz="1450" b="1" dirty="0">
                <a:solidFill>
                  <a:srgbClr val="1B1F27"/>
                </a:solidFill>
              </a:rPr>
              <a:t>Marktumfeld: </a:t>
            </a:r>
            <a:r>
              <a:rPr lang="en-US" sz="1450" dirty="0">
                <a:solidFill>
                  <a:srgbClr val="1B1F27"/>
                </a:solidFill>
              </a:rPr>
              <a:t>Wettbewerber-Standorte aus öffentlichen Quellen</a:t>
            </a:r>
            <a:endParaRPr lang="en-US" sz="1450" dirty="0"/>
          </a:p>
          <a:p>
            <a:pPr indent="-171450" marL="171450">
              <a:spcAft>
                <a:spcPts val="500"/>
              </a:spcAft>
              <a:buFont typeface="Arial"/>
              <a:buChar char="•"/>
            </a:pPr>
            <a:r>
              <a:rPr lang="en-US" sz="1450" b="1" dirty="0">
                <a:solidFill>
                  <a:srgbClr val="1B1F27"/>
                </a:solidFill>
              </a:rPr>
              <a:t>Vertrieb: </a:t>
            </a:r>
            <a:r>
              <a:rPr lang="en-US" sz="1450" dirty="0">
                <a:solidFill>
                  <a:srgbClr val="1B1F27"/>
                </a:solidFill>
              </a:rPr>
              <a:t>wöchentliche Hinweise und geführte Besuchstour für den Außendienst</a:t>
            </a:r>
            <a:endParaRPr lang="en-US" sz="1450" dirty="0"/>
          </a:p>
          <a:p>
            <a:pPr indent="-171450" marL="171450">
              <a:spcAft>
                <a:spcPts val="500"/>
              </a:spcAft>
              <a:buFont typeface="Arial"/>
              <a:buChar char="•"/>
            </a:pPr>
            <a:r>
              <a:rPr lang="en-US" sz="1450" b="1" dirty="0">
                <a:solidFill>
                  <a:srgbClr val="1B1F27"/>
                </a:solidFill>
              </a:rPr>
              <a:t>Transparenz: </a:t>
            </a:r>
            <a:r>
              <a:rPr lang="en-US" sz="1450" dirty="0">
                <a:solidFill>
                  <a:srgbClr val="1B1F27"/>
                </a:solidFill>
              </a:rPr>
              <a:t>Datenquelle und Konfidenzstufe je Empfehlung, KI-Inhalte gekennzeichnet</a:t>
            </a:r>
            <a:endParaRPr lang="en-US" sz="1450" dirty="0"/>
          </a:p>
          <a:p>
            <a:pPr indent="-171450" marL="171450">
              <a:spcAft>
                <a:spcPts val="500"/>
              </a:spcAft>
              <a:buFont typeface="Arial"/>
              <a:buChar char="•"/>
            </a:pPr>
            <a:r>
              <a:rPr lang="en-US" sz="1450" b="1" dirty="0">
                <a:solidFill>
                  <a:srgbClr val="1B1F27"/>
                </a:solidFill>
              </a:rPr>
              <a:t>Zugang: </a:t>
            </a:r>
            <a:r>
              <a:rPr lang="en-US" sz="1450" dirty="0">
                <a:solidFill>
                  <a:srgbClr val="1B1F27"/>
                </a:solidFill>
              </a:rPr>
              <a:t>Login mit zwei Rollen (Keycloak als Platzhalter für Okta)</a:t>
            </a:r>
            <a:endParaRPr lang="en-US" sz="1450" dirty="0"/>
          </a:p>
          <a:p>
            <a:pPr indent="-171450" marL="171450">
              <a:spcAft>
                <a:spcPts val="500"/>
              </a:spcAft>
              <a:buFont typeface="Arial"/>
              <a:buChar char="•"/>
            </a:pPr>
            <a:r>
              <a:rPr lang="en-US" sz="1450" b="1" dirty="0">
                <a:solidFill>
                  <a:srgbClr val="1B1F27"/>
                </a:solidFill>
              </a:rPr>
              <a:t>Betrieb: </a:t>
            </a:r>
            <a:r>
              <a:rPr lang="en-US" sz="1450" dirty="0">
                <a:solidFill>
                  <a:srgbClr val="1B1F27"/>
                </a:solidFill>
              </a:rPr>
              <a:t>lauffähig als Container-Lösung</a:t>
            </a:r>
            <a:endParaRPr lang="en-US" sz="1450" dirty="0"/>
          </a:p>
        </p:txBody>
      </p:sp>
      <p:sp>
        <p:nvSpPr>
          <p:cNvPr id="9" name="Box Bewusst nicht im MVP"/>
          <p:cNvSpPr/>
          <p:nvPr/>
        </p:nvSpPr>
        <p:spPr>
          <a:xfrm>
            <a:off x="6199632" y="1280160"/>
            <a:ext cx="5532120" cy="4937760"/>
          </a:xfrm>
          <a:prstGeom prst="roundRect">
            <a:avLst>
              <a:gd name="adj" fmla="val 1481"/>
            </a:avLst>
          </a:prstGeom>
          <a:solidFill>
            <a:srgbClr val="FBE4DF"/>
          </a:solidFill>
          <a:ln w="12700">
            <a:solidFill>
              <a:srgbClr val="FBE4DF"/>
            </a:solidFill>
            <a:prstDash val="solid"/>
          </a:ln>
        </p:spPr>
      </p:sp>
      <p:sp>
        <p:nvSpPr>
          <p:cNvPr id="10" name="Text 8"/>
          <p:cNvSpPr txBox="1"/>
          <p:nvPr/>
        </p:nvSpPr>
        <p:spPr>
          <a:xfrm>
            <a:off x="6382512" y="1408176"/>
            <a:ext cx="5166360" cy="292608"/>
          </a:xfrm>
          <a:prstGeom prst="rect">
            <a:avLst/>
          </a:prstGeom>
          <a:noFill/>
          <a:ln/>
        </p:spPr>
        <p:txBody>
          <a:bodyPr wrap="square" lIns="0" tIns="0" rIns="0" bIns="0" rtlCol="0" anchor="ctr"/>
          <a:lstStyle/>
          <a:p>
            <a:pPr indent="0" marL="0">
              <a:buNone/>
            </a:pPr>
            <a:r>
              <a:rPr lang="en-US" sz="1700" b="1" dirty="0">
                <a:solidFill>
                  <a:srgbClr val="C0392B"/>
                </a:solidFill>
              </a:rPr>
              <a:t>Bewusst nicht im MVP</a:t>
            </a:r>
            <a:endParaRPr lang="en-US" sz="1700" dirty="0"/>
          </a:p>
        </p:txBody>
      </p:sp>
      <p:sp>
        <p:nvSpPr>
          <p:cNvPr id="11" name="Liste Out"/>
          <p:cNvSpPr txBox="1"/>
          <p:nvPr/>
        </p:nvSpPr>
        <p:spPr>
          <a:xfrm>
            <a:off x="6382512" y="1783080"/>
            <a:ext cx="5166360" cy="4343400"/>
          </a:xfrm>
          <a:prstGeom prst="rect">
            <a:avLst/>
          </a:prstGeom>
          <a:noFill/>
          <a:ln/>
        </p:spPr>
        <p:txBody>
          <a:bodyPr wrap="square" lIns="0" tIns="0" rIns="0" bIns="0" rtlCol="0" anchor="t"/>
          <a:lstStyle/>
          <a:p>
            <a:pPr indent="-171450" marL="171450">
              <a:spcAft>
                <a:spcPts val="500"/>
              </a:spcAft>
              <a:buFont typeface="Arial"/>
              <a:buChar char="•"/>
            </a:pPr>
            <a:r>
              <a:rPr lang="en-US" sz="1450" b="1" dirty="0">
                <a:solidFill>
                  <a:srgbClr val="1B1F27"/>
                </a:solidFill>
              </a:rPr>
              <a:t>Keine Dateneingabe: </a:t>
            </a:r>
            <a:r>
              <a:rPr lang="en-US" sz="1450" dirty="0">
                <a:solidFill>
                  <a:srgbClr val="1B1F27"/>
                </a:solidFill>
              </a:rPr>
              <a:t>Daten fließen nur ins System; Aktionen erfolgen im CRM per Deep Link</a:t>
            </a:r>
            <a:endParaRPr lang="en-US" sz="1450" dirty="0"/>
          </a:p>
          <a:p>
            <a:pPr indent="-171450" marL="171450">
              <a:spcAft>
                <a:spcPts val="500"/>
              </a:spcAft>
              <a:buFont typeface="Arial"/>
              <a:buChar char="•"/>
            </a:pPr>
            <a:r>
              <a:rPr lang="en-US" sz="1450" b="1" dirty="0">
                <a:solidFill>
                  <a:srgbClr val="1B1F27"/>
                </a:solidFill>
              </a:rPr>
              <a:t>Keine Live-Anbindung: </a:t>
            </a:r>
            <a:r>
              <a:rPr lang="en-US" sz="1450" dirty="0">
                <a:solidFill>
                  <a:srgbClr val="1B1F27"/>
                </a:solidFill>
              </a:rPr>
              <a:t>kein Live-Zugriff auf CRM/ERP oder Data Lake, Import als Datei</a:t>
            </a:r>
            <a:endParaRPr lang="en-US" sz="1450" dirty="0"/>
          </a:p>
          <a:p>
            <a:pPr indent="-171450" marL="171450">
              <a:spcAft>
                <a:spcPts val="500"/>
              </a:spcAft>
              <a:buFont typeface="Arial"/>
              <a:buChar char="•"/>
            </a:pPr>
            <a:r>
              <a:rPr lang="en-US" sz="1450" b="1" dirty="0">
                <a:solidFill>
                  <a:srgbClr val="1B1F27"/>
                </a:solidFill>
              </a:rPr>
              <a:t>Kein Echtzeitbetrieb: </a:t>
            </a:r>
            <a:r>
              <a:rPr lang="en-US" sz="1450" dirty="0">
                <a:solidFill>
                  <a:srgbClr val="1B1F27"/>
                </a:solidFill>
              </a:rPr>
              <a:t>keine Echtzeit-Aktualisierung, keine hohe Nutzerlast</a:t>
            </a:r>
            <a:endParaRPr lang="en-US" sz="1450" dirty="0"/>
          </a:p>
          <a:p>
            <a:pPr indent="-171450" marL="171450">
              <a:spcAft>
                <a:spcPts val="500"/>
              </a:spcAft>
              <a:buFont typeface="Arial"/>
              <a:buChar char="•"/>
            </a:pPr>
            <a:r>
              <a:rPr lang="en-US" sz="1450" b="1" dirty="0">
                <a:solidFill>
                  <a:srgbClr val="1B1F27"/>
                </a:solidFill>
              </a:rPr>
              <a:t>Kein Mehrmandanten-Betrieb: </a:t>
            </a:r>
            <a:r>
              <a:rPr lang="en-US" sz="1450" dirty="0">
                <a:solidFill>
                  <a:srgbClr val="1B1F27"/>
                </a:solidFill>
              </a:rPr>
              <a:t>im MVP ein Händler, keine Trennung mehrerer Händler</a:t>
            </a:r>
            <a:endParaRPr lang="en-US" sz="1450" dirty="0"/>
          </a:p>
          <a:p>
            <a:pPr indent="-171450" marL="171450">
              <a:spcAft>
                <a:spcPts val="500"/>
              </a:spcAft>
              <a:buFont typeface="Arial"/>
              <a:buChar char="•"/>
            </a:pPr>
            <a:r>
              <a:rPr lang="en-US" sz="1450" b="1" dirty="0">
                <a:solidFill>
                  <a:srgbClr val="1B1F27"/>
                </a:solidFill>
              </a:rPr>
              <a:t>Keine Benutzerverwaltung: </a:t>
            </a:r>
            <a:r>
              <a:rPr lang="en-US" sz="1450" dirty="0">
                <a:solidFill>
                  <a:srgbClr val="1B1F27"/>
                </a:solidFill>
              </a:rPr>
              <a:t>Rollen und Passwörter kommen aus dem Identity Provider</a:t>
            </a:r>
            <a:endParaRPr lang="en-US" sz="1450" dirty="0"/>
          </a:p>
          <a:p>
            <a:pPr indent="-171450" marL="171450">
              <a:spcAft>
                <a:spcPts val="500"/>
              </a:spcAft>
              <a:buFont typeface="Arial"/>
              <a:buChar char="•"/>
            </a:pPr>
            <a:r>
              <a:rPr lang="en-US" sz="1450" b="1" dirty="0">
                <a:solidFill>
                  <a:srgbClr val="1B1F27"/>
                </a:solidFill>
              </a:rPr>
              <a:t>Keine Routenoptimierung: </a:t>
            </a:r>
            <a:r>
              <a:rPr lang="en-US" sz="1450" dirty="0">
                <a:solidFill>
                  <a:srgbClr val="1B1F27"/>
                </a:solidFill>
              </a:rPr>
              <a:t>zunächst einfache Reihenfolge, kein Kalenderabgleich, offline nicht verfügbar</a:t>
            </a:r>
            <a:endParaRPr lang="en-US" sz="1450" dirty="0"/>
          </a:p>
          <a:p>
            <a:pPr indent="-171450" marL="171450">
              <a:spcAft>
                <a:spcPts val="500"/>
              </a:spcAft>
              <a:buFont typeface="Arial"/>
              <a:buChar char="•"/>
            </a:pPr>
            <a:r>
              <a:rPr lang="en-US" sz="1450" b="1" dirty="0">
                <a:solidFill>
                  <a:srgbClr val="1B1F27"/>
                </a:solidFill>
              </a:rPr>
              <a:t>Keine Überwachung: </a:t>
            </a:r>
            <a:r>
              <a:rPr lang="en-US" sz="1450" dirty="0">
                <a:solidFill>
                  <a:srgbClr val="1B1F27"/>
                </a:solidFill>
              </a:rPr>
              <a:t>kein Tracking von Mitarbeitenden, keine privaten Kundendaten, keine KI-erfundenen Leads</a:t>
            </a:r>
            <a:endParaRPr lang="en-US" sz="1450" dirty="0"/>
          </a:p>
          <a:p>
            <a:pPr indent="-171450" marL="171450">
              <a:spcAft>
                <a:spcPts val="500"/>
              </a:spcAft>
              <a:buFont typeface="Arial"/>
              <a:buChar char="•"/>
            </a:pPr>
            <a:r>
              <a:rPr lang="en-US" sz="1450" b="1" dirty="0">
                <a:solidFill>
                  <a:srgbClr val="1B1F27"/>
                </a:solidFill>
              </a:rPr>
              <a:t>Kein Rollout: </a:t>
            </a:r>
            <a:r>
              <a:rPr lang="en-US" sz="1450" dirty="0">
                <a:solidFill>
                  <a:srgbClr val="1B1F27"/>
                </a:solidFill>
              </a:rPr>
              <a:t>Fokus auf ein Pilotgebiet in Österreich statt ganz Europa</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28600"/>
          </a:xfrm>
          <a:prstGeom prst="rect">
            <a:avLst/>
          </a:prstGeom>
          <a:noFill/>
          <a:ln/>
        </p:spPr>
        <p:txBody>
          <a:bodyPr wrap="square" lIns="0" tIns="0" rIns="0" bIns="0" rtlCol="0" anchor="ctr"/>
          <a:lstStyle/>
          <a:p>
            <a:pPr indent="0" marL="0">
              <a:buNone/>
            </a:pPr>
            <a:r>
              <a:rPr lang="en-US" sz="1100" b="1" spc="200" kern="0" dirty="0">
                <a:solidFill>
                  <a:srgbClr val="C0392B"/>
                </a:solidFill>
              </a:rPr>
              <a:t>GEPLANTE INHALTE</a:t>
            </a:r>
            <a:endParaRPr lang="en-US" sz="1100" dirty="0"/>
          </a:p>
        </p:txBody>
      </p:sp>
      <p:sp>
        <p:nvSpPr>
          <p:cNvPr id="3" name="Titel"/>
          <p:cNvSpPr txBox="1"/>
          <p:nvPr/>
        </p:nvSpPr>
        <p:spPr>
          <a:xfrm>
            <a:off x="457200" y="530352"/>
            <a:ext cx="11247120" cy="548640"/>
          </a:xfrm>
          <a:prstGeom prst="rect">
            <a:avLst/>
          </a:prstGeom>
          <a:noFill/>
          <a:ln/>
        </p:spPr>
        <p:txBody>
          <a:bodyPr wrap="square" lIns="0" tIns="0" rIns="0" bIns="0" rtlCol="0" anchor="ctr"/>
          <a:lstStyle/>
          <a:p>
            <a:pPr indent="0" marL="0">
              <a:buNone/>
            </a:pPr>
            <a:r>
              <a:rPr lang="en-US" sz="2600" b="1" dirty="0">
                <a:solidFill>
                  <a:srgbClr val="1F3A68"/>
                </a:solidFill>
              </a:rPr>
              <a:t>Umgesetzte und geplante Features im Überblick</a:t>
            </a:r>
            <a:endParaRPr lang="en-US" sz="2600" dirty="0"/>
          </a:p>
        </p:txBody>
      </p:sp>
      <p:sp>
        <p:nvSpPr>
          <p:cNvPr id="4" name="Text 2"/>
          <p:cNvSpPr txBox="1"/>
          <p:nvPr/>
        </p:nvSpPr>
        <p:spPr>
          <a:xfrm>
            <a:off x="457200" y="6400800"/>
            <a:ext cx="7315200" cy="228600"/>
          </a:xfrm>
          <a:prstGeom prst="rect">
            <a:avLst/>
          </a:prstGeom>
          <a:noFill/>
          <a:ln/>
        </p:spPr>
        <p:txBody>
          <a:bodyPr wrap="square" lIns="0" tIns="0" rIns="0" bIns="0" rtlCol="0" anchor="ctr"/>
          <a:lstStyle/>
          <a:p>
            <a:pPr indent="0" marL="0">
              <a:buNone/>
            </a:pPr>
            <a:r>
              <a:rPr lang="en-US" sz="950" dirty="0">
                <a:solidFill>
                  <a:srgbClr val="6B7A90"/>
                </a:solidFill>
              </a:rPr>
              <a:t>TerraMax · Stakeholder-Information · Stand 30.10.2026</a:t>
            </a:r>
            <a:endParaRPr lang="en-US" sz="950" dirty="0"/>
          </a:p>
        </p:txBody>
      </p:sp>
      <p:sp>
        <p:nvSpPr>
          <p:cNvPr id="5" name="Text 3"/>
          <p:cNvSpPr txBox="1"/>
          <p:nvPr/>
        </p:nvSpPr>
        <p:spPr>
          <a:xfrm>
            <a:off x="10789920" y="6400800"/>
            <a:ext cx="941832" cy="228600"/>
          </a:xfrm>
          <a:prstGeom prst="rect">
            <a:avLst/>
          </a:prstGeom>
          <a:noFill/>
          <a:ln/>
        </p:spPr>
        <p:txBody>
          <a:bodyPr wrap="square" lIns="0" tIns="0" rIns="0" bIns="0" rtlCol="0" anchor="ctr"/>
          <a:lstStyle/>
          <a:p>
            <a:pPr algn="r" indent="0" marL="0">
              <a:buNone/>
            </a:pPr>
            <a:r>
              <a:rPr lang="en-US" sz="950" dirty="0">
                <a:solidFill>
                  <a:srgbClr val="6B7A90"/>
                </a:solidFill>
              </a:rPr>
              <a:t>4 / 5</a:t>
            </a:r>
            <a:endParaRPr lang="en-US" sz="950" dirty="0"/>
          </a:p>
        </p:txBody>
      </p:sp>
      <p:graphicFrame>
        <p:nvGraphicFramePr>
          <p:cNvPr id="5" name="Features"/>
          <p:cNvGraphicFramePr>
            <a:graphicFrameLocks noGrp="1"/>
          </p:cNvGraphicFramePr>
          <p:nvPr>
            <p:extLst>
              <p:ext uri="{D42A27DB-BD31-4B8C-83A1-F6EECF244321}">
                <p14:modId xmlns:p14="http://schemas.microsoft.com/office/powerpoint/2010/main" val="1579011935"/>
              </p:ext>
            </p:extLst>
          </p:nvPr>
        </p:nvGraphicFramePr>
        <p:xfrm>
          <a:off x="457200" y="1261872"/>
          <a:ext cx="11274552" cy="914400"/>
        </p:xfrm>
        <a:graphic>
          <a:graphicData uri="http://schemas.openxmlformats.org/drawingml/2006/table">
            <a:tbl>
              <a:tblPr/>
              <a:tblGrid>
                <a:gridCol w="1737360"/>
                <a:gridCol w="6400800"/>
                <a:gridCol w="1737360"/>
                <a:gridCol w="1399032"/>
              </a:tblGrid>
              <a:tr h="0">
                <a:tc>
                  <a:txBody>
                    <a:bodyPr/>
                    <a:lstStyle/>
                    <a:p>
                      <a:pPr indent="0" marL="0">
                        <a:buNone/>
                      </a:pPr>
                      <a:r>
                        <a:rPr lang="en-US" sz="1350" b="1" dirty="0">
                          <a:solidFill>
                            <a:srgbClr val="FFFFFF"/>
                          </a:solidFill>
                        </a:rPr>
                        <a:t>Bereich</a:t>
                      </a:r>
                      <a:endParaRPr lang="en-US" sz="135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F3A68"/>
                    </a:solidFill>
                  </a:tcPr>
                </a:tc>
                <a:tc>
                  <a:txBody>
                    <a:bodyPr/>
                    <a:lstStyle/>
                    <a:p>
                      <a:pPr indent="0" marL="0">
                        <a:buNone/>
                      </a:pPr>
                      <a:r>
                        <a:rPr lang="en-US" sz="1350" b="1" dirty="0">
                          <a:solidFill>
                            <a:srgbClr val="FFFFFF"/>
                          </a:solidFill>
                        </a:rPr>
                        <a:t>Inhalt</a:t>
                      </a:r>
                      <a:endParaRPr lang="en-US" sz="135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F3A68"/>
                    </a:solidFill>
                  </a:tcPr>
                </a:tc>
                <a:tc>
                  <a:txBody>
                    <a:bodyPr/>
                    <a:lstStyle/>
                    <a:p>
                      <a:pPr indent="0" marL="0">
                        <a:buNone/>
                      </a:pPr>
                      <a:r>
                        <a:rPr lang="en-US" sz="1350" b="1" dirty="0">
                          <a:solidFill>
                            <a:srgbClr val="FFFFFF"/>
                          </a:solidFill>
                        </a:rPr>
                        <a:t>Issue</a:t>
                      </a:r>
                      <a:endParaRPr lang="en-US" sz="135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F3A68"/>
                    </a:solidFill>
                  </a:tcPr>
                </a:tc>
                <a:tc>
                  <a:txBody>
                    <a:bodyPr/>
                    <a:lstStyle/>
                    <a:p>
                      <a:pPr indent="0" marL="0">
                        <a:buNone/>
                      </a:pPr>
                      <a:r>
                        <a:rPr lang="en-US" sz="1350" b="1" dirty="0">
                          <a:solidFill>
                            <a:srgbClr val="FFFFFF"/>
                          </a:solidFill>
                        </a:rPr>
                        <a:t>Status</a:t>
                      </a:r>
                      <a:endParaRPr lang="en-US" sz="135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F3A68"/>
                    </a:solidFill>
                  </a:tcPr>
                </a:tc>
              </a:tr>
              <a:tr h="0">
                <a:tc>
                  <a:txBody>
                    <a:bodyPr/>
                    <a:lstStyle/>
                    <a:p>
                      <a:pPr indent="0" marL="0">
                        <a:buNone/>
                      </a:pPr>
                      <a:r>
                        <a:rPr lang="en-US" sz="1300" b="1" dirty="0">
                          <a:solidFill>
                            <a:srgbClr val="1F3A68"/>
                          </a:solidFill>
                        </a:rPr>
                        <a:t>Grundlagen</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1B1F27"/>
                          </a:solidFill>
                        </a:rPr>
                        <a:t>Login Dealer Principal, Keycloak-Realm</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6B7A90"/>
                          </a:solidFill>
                        </a:rPr>
                        <a:t>#8, #12</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b="1" dirty="0">
                          <a:solidFill>
                            <a:srgbClr val="3E7C3A"/>
                          </a:solidFill>
                        </a:rPr>
                        <a:t>Erledigt</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00" b="1" dirty="0">
                          <a:solidFill>
                            <a:srgbClr val="1F3A68"/>
                          </a:solidFill>
                        </a:rPr>
                        <a:t>Grundlagen</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7"/>
                          </a:solidFill>
                        </a:rPr>
                        <a:t>Hello-World-Service mit CI/CD-Pipeline</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6B7A90"/>
                          </a:solidFill>
                        </a:rPr>
                        <a:t>#10, #11</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3E7C3A"/>
                          </a:solidFill>
                        </a:rPr>
                        <a:t>Erledigt</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3A68"/>
                          </a:solidFill>
                        </a:rPr>
                        <a:t>Grundlagen</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1B1F27"/>
                          </a:solidFill>
                        </a:rPr>
                        <a:t>MVP-Land Österreich, Persona und User Journey</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6B7A90"/>
                          </a:solidFill>
                        </a:rPr>
                        <a:t>#14, #13</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b="1" dirty="0">
                          <a:solidFill>
                            <a:srgbClr val="3E7C3A"/>
                          </a:solidFill>
                        </a:rPr>
                        <a:t>Erledigt</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00" b="1" dirty="0">
                          <a:solidFill>
                            <a:srgbClr val="1F3A68"/>
                          </a:solidFill>
                        </a:rPr>
                        <a:t>Marktkarte</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7"/>
                          </a:solidFill>
                        </a:rPr>
                        <a:t>H3-Agrarmarktkarte Österreich (INVEKOS 2024)</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6B7A90"/>
                          </a:solidFill>
                        </a:rPr>
                        <a:t>#17 · PR #30</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B7791F"/>
                          </a:solidFill>
                        </a:rPr>
                        <a:t>In Umsetzung</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3A68"/>
                          </a:solidFill>
                        </a:rPr>
                        <a:t>Marktkarte</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1B1F27"/>
                          </a:solidFill>
                        </a:rPr>
                        <a:t>Wettbewerber auf der Karte</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6B7A90"/>
                          </a:solidFill>
                        </a:rPr>
                        <a:t>#26</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b="1" dirty="0">
                          <a:solidFill>
                            <a:srgbClr val="2E6FA7"/>
                          </a:solidFill>
                        </a:rPr>
                        <a:t>Zugewiesen</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00" b="1" dirty="0">
                          <a:solidFill>
                            <a:srgbClr val="1F3A68"/>
                          </a:solidFill>
                        </a:rPr>
                        <a:t>Marktkarte</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7"/>
                          </a:solidFill>
                        </a:rPr>
                        <a:t>Standorte, Vertriebsgebiete und Kunden</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6B7A90"/>
                          </a:solidFill>
                        </a:rPr>
                        <a:t>#18</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6B7A90"/>
                          </a:solidFill>
                        </a:rPr>
                        <a:t>Geplant</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3A68"/>
                          </a:solidFill>
                        </a:rPr>
                        <a:t>Marktkarte</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1B1F27"/>
                          </a:solidFill>
                        </a:rPr>
                        <a:t>Gebiete außerhalb 1 Stunde Fahrzeit</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6B7A90"/>
                          </a:solidFill>
                        </a:rPr>
                        <a:t>#19</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b="1" dirty="0">
                          <a:solidFill>
                            <a:srgbClr val="6B7A90"/>
                          </a:solidFill>
                        </a:rPr>
                        <a:t>Geplant</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00" b="1" dirty="0">
                          <a:solidFill>
                            <a:srgbClr val="1F3A68"/>
                          </a:solidFill>
                        </a:rPr>
                        <a:t>Marktkarte</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7"/>
                          </a:solidFill>
                        </a:rPr>
                        <a:t>Gebiete mit zu wenig Betreuung</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6B7A90"/>
                          </a:solidFill>
                        </a:rPr>
                        <a:t>#25</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6B7A90"/>
                          </a:solidFill>
                        </a:rPr>
                        <a:t>Geplant</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3A68"/>
                          </a:solidFill>
                        </a:rPr>
                        <a:t>Vertrieb</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1B1F27"/>
                          </a:solidFill>
                        </a:rPr>
                        <a:t>Login Sales Professional</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6B7A90"/>
                          </a:solidFill>
                        </a:rPr>
                        <a:t>#23</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b="1" dirty="0">
                          <a:solidFill>
                            <a:srgbClr val="2E6FA7"/>
                          </a:solidFill>
                        </a:rPr>
                        <a:t>Zugewiesen</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00" b="1" dirty="0">
                          <a:solidFill>
                            <a:srgbClr val="1F3A68"/>
                          </a:solidFill>
                        </a:rPr>
                        <a:t>Vertrieb</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7"/>
                          </a:solidFill>
                        </a:rPr>
                        <a:t>Wöchentliche Hinweise zum Gebiet</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6B7A90"/>
                          </a:solidFill>
                        </a:rPr>
                        <a:t>#24</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2E6FA7"/>
                          </a:solidFill>
                        </a:rPr>
                        <a:t>Zugewiesen</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3A68"/>
                          </a:solidFill>
                        </a:rPr>
                        <a:t>Vertrieb</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1B1F27"/>
                          </a:solidFill>
                        </a:rPr>
                        <a:t>Geführte Besuchstour mit Sprachprotokoll</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6B7A90"/>
                          </a:solidFill>
                        </a:rPr>
                        <a:t>#29</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b="1" dirty="0">
                          <a:solidFill>
                            <a:srgbClr val="2E6FA7"/>
                          </a:solidFill>
                        </a:rPr>
                        <a:t>Zugewiesen</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00" b="1" dirty="0">
                          <a:solidFill>
                            <a:srgbClr val="1F3A68"/>
                          </a:solidFill>
                        </a:rPr>
                        <a:t>Transparenz</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7"/>
                          </a:solidFill>
                        </a:rPr>
                        <a:t>Datenquelle und Konfidenzstufe je Empfehlung</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6B7A90"/>
                          </a:solidFill>
                        </a:rPr>
                        <a:t>#20</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6B7A90"/>
                          </a:solidFill>
                        </a:rPr>
                        <a:t>Geplant</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3A68"/>
                          </a:solidFill>
                        </a:rPr>
                        <a:t>Transparenz</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1B1F27"/>
                          </a:solidFill>
                        </a:rPr>
                        <a:t>Kennzeichnung KI-generierter Inhalte</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6B7A90"/>
                          </a:solidFill>
                        </a:rPr>
                        <a:t>#27</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b="1" dirty="0">
                          <a:solidFill>
                            <a:srgbClr val="6B7A90"/>
                          </a:solidFill>
                        </a:rPr>
                        <a:t>Geplant</a:t>
                      </a:r>
                      <a:endParaRPr lang="en-US" sz="1300" dirty="0"/>
                    </a:p>
                  </a:txBody>
                  <a:tcPr marL="101600" marR="101600" marT="69850" marB="6985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7" name="Text 4"/>
          <p:cNvSpPr txBox="1"/>
          <p:nvPr/>
        </p:nvSpPr>
        <p:spPr>
          <a:xfrm>
            <a:off x="457200" y="6053328"/>
            <a:ext cx="11247120" cy="228600"/>
          </a:xfrm>
          <a:prstGeom prst="rect">
            <a:avLst/>
          </a:prstGeom>
          <a:noFill/>
          <a:ln/>
        </p:spPr>
        <p:txBody>
          <a:bodyPr wrap="square" lIns="0" tIns="0" rIns="0" bIns="0" rtlCol="0" anchor="ctr"/>
          <a:lstStyle/>
          <a:p>
            <a:pPr indent="0" marL="0">
              <a:buNone/>
            </a:pPr>
            <a:r>
              <a:rPr lang="en-US" sz="950" i="1" dirty="0">
                <a:solidFill>
                  <a:srgbClr val="6B7A90"/>
                </a:solidFill>
              </a:rPr>
              <a:t>Status laut GitHub-Board am 30.10.2026. „Zugewiesen“ heißt: Story ist einem Teammitglied zugeordnet, Umsetzung steht an.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9144000" cy="228600"/>
          </a:xfrm>
          <a:prstGeom prst="rect">
            <a:avLst/>
          </a:prstGeom>
          <a:noFill/>
          <a:ln/>
        </p:spPr>
        <p:txBody>
          <a:bodyPr wrap="square" lIns="0" tIns="0" rIns="0" bIns="0" rtlCol="0" anchor="ctr"/>
          <a:lstStyle/>
          <a:p>
            <a:pPr indent="0" marL="0">
              <a:buNone/>
            </a:pPr>
            <a:r>
              <a:rPr lang="en-US" sz="1100" b="1" spc="200" kern="0" dirty="0">
                <a:solidFill>
                  <a:srgbClr val="C0392B"/>
                </a:solidFill>
              </a:rPr>
              <a:t>RAHMENBEDINGUNGEN UND AUSBLICK</a:t>
            </a:r>
            <a:endParaRPr lang="en-US" sz="1100" dirty="0"/>
          </a:p>
        </p:txBody>
      </p:sp>
      <p:sp>
        <p:nvSpPr>
          <p:cNvPr id="3" name="Titel"/>
          <p:cNvSpPr txBox="1"/>
          <p:nvPr/>
        </p:nvSpPr>
        <p:spPr>
          <a:xfrm>
            <a:off x="457200" y="530352"/>
            <a:ext cx="11247120" cy="548640"/>
          </a:xfrm>
          <a:prstGeom prst="rect">
            <a:avLst/>
          </a:prstGeom>
          <a:noFill/>
          <a:ln/>
        </p:spPr>
        <p:txBody>
          <a:bodyPr wrap="square" lIns="0" tIns="0" rIns="0" bIns="0" rtlCol="0" anchor="ctr"/>
          <a:lstStyle/>
          <a:p>
            <a:pPr indent="0" marL="0">
              <a:buNone/>
            </a:pPr>
            <a:r>
              <a:rPr lang="en-US" sz="2600" b="1" dirty="0">
                <a:solidFill>
                  <a:srgbClr val="1F3A68"/>
                </a:solidFill>
              </a:rPr>
              <a:t>Technischer Rahmen, Datenbasis und nächste Schritte</a:t>
            </a:r>
            <a:endParaRPr lang="en-US" sz="2600" dirty="0"/>
          </a:p>
        </p:txBody>
      </p:sp>
      <p:sp>
        <p:nvSpPr>
          <p:cNvPr id="4" name="Text 2"/>
          <p:cNvSpPr txBox="1"/>
          <p:nvPr/>
        </p:nvSpPr>
        <p:spPr>
          <a:xfrm>
            <a:off x="457200" y="6400800"/>
            <a:ext cx="7315200" cy="228600"/>
          </a:xfrm>
          <a:prstGeom prst="rect">
            <a:avLst/>
          </a:prstGeom>
          <a:noFill/>
          <a:ln/>
        </p:spPr>
        <p:txBody>
          <a:bodyPr wrap="square" lIns="0" tIns="0" rIns="0" bIns="0" rtlCol="0" anchor="ctr"/>
          <a:lstStyle/>
          <a:p>
            <a:pPr indent="0" marL="0">
              <a:buNone/>
            </a:pPr>
            <a:r>
              <a:rPr lang="en-US" sz="950" dirty="0">
                <a:solidFill>
                  <a:srgbClr val="6B7A90"/>
                </a:solidFill>
              </a:rPr>
              <a:t>TerraMax · Stakeholder-Information · Stand 30.10.2026</a:t>
            </a:r>
            <a:endParaRPr lang="en-US" sz="950" dirty="0"/>
          </a:p>
        </p:txBody>
      </p:sp>
      <p:sp>
        <p:nvSpPr>
          <p:cNvPr id="5" name="Text 3"/>
          <p:cNvSpPr txBox="1"/>
          <p:nvPr/>
        </p:nvSpPr>
        <p:spPr>
          <a:xfrm>
            <a:off x="10789920" y="6400800"/>
            <a:ext cx="941832" cy="228600"/>
          </a:xfrm>
          <a:prstGeom prst="rect">
            <a:avLst/>
          </a:prstGeom>
          <a:noFill/>
          <a:ln/>
        </p:spPr>
        <p:txBody>
          <a:bodyPr wrap="square" lIns="0" tIns="0" rIns="0" bIns="0" rtlCol="0" anchor="ctr"/>
          <a:lstStyle/>
          <a:p>
            <a:pPr algn="r" indent="0" marL="0">
              <a:buNone/>
            </a:pPr>
            <a:r>
              <a:rPr lang="en-US" sz="950" dirty="0">
                <a:solidFill>
                  <a:srgbClr val="6B7A90"/>
                </a:solidFill>
              </a:rPr>
              <a:t>5 / 5</a:t>
            </a:r>
            <a:endParaRPr lang="en-US" sz="950" dirty="0"/>
          </a:p>
        </p:txBody>
      </p:sp>
      <p:sp>
        <p:nvSpPr>
          <p:cNvPr id="6" name="Box Technischer Rahmen"/>
          <p:cNvSpPr/>
          <p:nvPr/>
        </p:nvSpPr>
        <p:spPr>
          <a:xfrm>
            <a:off x="457200" y="1280160"/>
            <a:ext cx="3657600" cy="4937760"/>
          </a:xfrm>
          <a:prstGeom prst="roundRect">
            <a:avLst>
              <a:gd name="adj" fmla="val 2000"/>
            </a:avLst>
          </a:prstGeom>
          <a:solidFill>
            <a:srgbClr val="EEF2F7"/>
          </a:solidFill>
          <a:ln w="12700">
            <a:solidFill>
              <a:srgbClr val="EEF2F7"/>
            </a:solidFill>
            <a:prstDash val="solid"/>
          </a:ln>
        </p:spPr>
      </p:sp>
      <p:sp>
        <p:nvSpPr>
          <p:cNvPr id="7" name="Text 5"/>
          <p:cNvSpPr txBox="1"/>
          <p:nvPr/>
        </p:nvSpPr>
        <p:spPr>
          <a:xfrm>
            <a:off x="640080" y="1408176"/>
            <a:ext cx="3291840" cy="292608"/>
          </a:xfrm>
          <a:prstGeom prst="rect">
            <a:avLst/>
          </a:prstGeom>
          <a:noFill/>
          <a:ln/>
        </p:spPr>
        <p:txBody>
          <a:bodyPr wrap="square" lIns="0" tIns="0" rIns="0" bIns="0" rtlCol="0" anchor="ctr"/>
          <a:lstStyle/>
          <a:p>
            <a:pPr indent="0" marL="0">
              <a:buNone/>
            </a:pPr>
            <a:r>
              <a:rPr lang="en-US" sz="1700" b="1" dirty="0">
                <a:solidFill>
                  <a:srgbClr val="1F3A68"/>
                </a:solidFill>
              </a:rPr>
              <a:t>Technischer Rahmen</a:t>
            </a:r>
            <a:endParaRPr lang="en-US" sz="1700" dirty="0"/>
          </a:p>
        </p:txBody>
      </p:sp>
      <p:sp>
        <p:nvSpPr>
          <p:cNvPr id="8" name="Liste Tech"/>
          <p:cNvSpPr txBox="1"/>
          <p:nvPr/>
        </p:nvSpPr>
        <p:spPr>
          <a:xfrm>
            <a:off x="640080" y="1783080"/>
            <a:ext cx="3291840" cy="4343400"/>
          </a:xfrm>
          <a:prstGeom prst="rect">
            <a:avLst/>
          </a:prstGeom>
          <a:noFill/>
          <a:ln/>
        </p:spPr>
        <p:txBody>
          <a:bodyPr wrap="square" lIns="0" tIns="0" rIns="0" bIns="0" rtlCol="0" anchor="t"/>
          <a:lstStyle/>
          <a:p>
            <a:pPr indent="-171450" marL="171450">
              <a:spcAft>
                <a:spcPts val="500"/>
              </a:spcAft>
              <a:buFont typeface="Arial"/>
              <a:buChar char="•"/>
            </a:pPr>
            <a:r>
              <a:rPr lang="en-US" sz="1500" dirty="0">
                <a:solidFill>
                  <a:srgbClr val="1B1F27"/>
                </a:solidFill>
              </a:rPr>
              <a:t>Web-Anwendung für Desktop und Smartphone</a:t>
            </a:r>
            <a:endParaRPr lang="en-US" sz="1500" dirty="0"/>
          </a:p>
          <a:p>
            <a:pPr indent="-171450" marL="171450">
              <a:spcAft>
                <a:spcPts val="500"/>
              </a:spcAft>
              <a:buFont typeface="Arial"/>
              <a:buChar char="•"/>
            </a:pPr>
            <a:r>
              <a:rPr lang="en-US" sz="1500" dirty="0">
                <a:solidFill>
                  <a:srgbClr val="1B1F27"/>
                </a:solidFill>
              </a:rPr>
              <a:t>Microservices, ausgeliefert als Container</a:t>
            </a:r>
            <a:endParaRPr lang="en-US" sz="1500" dirty="0"/>
          </a:p>
          <a:p>
            <a:pPr indent="-171450" marL="171450">
              <a:spcAft>
                <a:spcPts val="500"/>
              </a:spcAft>
              <a:buFont typeface="Arial"/>
              <a:buChar char="•"/>
            </a:pPr>
            <a:r>
              <a:rPr lang="en-US" sz="1500" dirty="0">
                <a:solidFill>
                  <a:srgbClr val="1B1F27"/>
                </a:solidFill>
              </a:rPr>
              <a:t>CI/CD über GitHub Actions</a:t>
            </a:r>
            <a:endParaRPr lang="en-US" sz="1500" dirty="0"/>
          </a:p>
          <a:p>
            <a:pPr indent="-171450" marL="171450">
              <a:spcAft>
                <a:spcPts val="500"/>
              </a:spcAft>
              <a:buFont typeface="Arial"/>
              <a:buChar char="•"/>
            </a:pPr>
            <a:r>
              <a:rPr lang="en-US" sz="1500" dirty="0">
                <a:solidFill>
                  <a:srgbClr val="1B1F27"/>
                </a:solidFill>
              </a:rPr>
              <a:t>Anmeldung per OIDC: Keycloak im MVP, Okta in Produktion</a:t>
            </a:r>
            <a:endParaRPr lang="en-US" sz="1500" dirty="0"/>
          </a:p>
          <a:p>
            <a:pPr indent="-171450" marL="171450">
              <a:spcAft>
                <a:spcPts val="500"/>
              </a:spcAft>
              <a:buFont typeface="Arial"/>
              <a:buChar char="•"/>
            </a:pPr>
            <a:r>
              <a:rPr lang="en-US" sz="1500" dirty="0">
                <a:solidFill>
                  <a:srgbClr val="1B1F27"/>
                </a:solidFill>
              </a:rPr>
              <a:t>Rollenbasierte Rechte für die zwei Nutzerrollen</a:t>
            </a:r>
            <a:endParaRPr lang="en-US" sz="1500" dirty="0"/>
          </a:p>
          <a:p>
            <a:pPr indent="-171450" marL="171450">
              <a:spcAft>
                <a:spcPts val="500"/>
              </a:spcAft>
              <a:buFont typeface="Arial"/>
              <a:buChar char="•"/>
            </a:pPr>
            <a:r>
              <a:rPr lang="en-US" sz="1500" dirty="0">
                <a:solidFill>
                  <a:srgbClr val="1B1F27"/>
                </a:solidFill>
              </a:rPr>
              <a:t>DSGVO und EU AI Act als Leitplanken</a:t>
            </a:r>
            <a:endParaRPr lang="en-US" sz="1500" dirty="0"/>
          </a:p>
        </p:txBody>
      </p:sp>
      <p:sp>
        <p:nvSpPr>
          <p:cNvPr id="9" name="Box Datenbasis"/>
          <p:cNvSpPr/>
          <p:nvPr/>
        </p:nvSpPr>
        <p:spPr>
          <a:xfrm>
            <a:off x="4270248" y="1280160"/>
            <a:ext cx="3657600" cy="4937760"/>
          </a:xfrm>
          <a:prstGeom prst="roundRect">
            <a:avLst>
              <a:gd name="adj" fmla="val 2000"/>
            </a:avLst>
          </a:prstGeom>
          <a:solidFill>
            <a:srgbClr val="EEF2F7"/>
          </a:solidFill>
          <a:ln w="12700">
            <a:solidFill>
              <a:srgbClr val="EEF2F7"/>
            </a:solidFill>
            <a:prstDash val="solid"/>
          </a:ln>
        </p:spPr>
      </p:sp>
      <p:sp>
        <p:nvSpPr>
          <p:cNvPr id="10" name="Text 8"/>
          <p:cNvSpPr txBox="1"/>
          <p:nvPr/>
        </p:nvSpPr>
        <p:spPr>
          <a:xfrm>
            <a:off x="4453128" y="1408176"/>
            <a:ext cx="3291840" cy="292608"/>
          </a:xfrm>
          <a:prstGeom prst="rect">
            <a:avLst/>
          </a:prstGeom>
          <a:noFill/>
          <a:ln/>
        </p:spPr>
        <p:txBody>
          <a:bodyPr wrap="square" lIns="0" tIns="0" rIns="0" bIns="0" rtlCol="0" anchor="ctr"/>
          <a:lstStyle/>
          <a:p>
            <a:pPr indent="0" marL="0">
              <a:buNone/>
            </a:pPr>
            <a:r>
              <a:rPr lang="en-US" sz="1700" b="1" dirty="0">
                <a:solidFill>
                  <a:srgbClr val="1F3A68"/>
                </a:solidFill>
              </a:rPr>
              <a:t>Datenbasis</a:t>
            </a:r>
            <a:endParaRPr lang="en-US" sz="1700" dirty="0"/>
          </a:p>
        </p:txBody>
      </p:sp>
      <p:sp>
        <p:nvSpPr>
          <p:cNvPr id="11" name="Liste Daten"/>
          <p:cNvSpPr txBox="1"/>
          <p:nvPr/>
        </p:nvSpPr>
        <p:spPr>
          <a:xfrm>
            <a:off x="4453128" y="1783080"/>
            <a:ext cx="3291840" cy="4343400"/>
          </a:xfrm>
          <a:prstGeom prst="rect">
            <a:avLst/>
          </a:prstGeom>
          <a:noFill/>
          <a:ln/>
        </p:spPr>
        <p:txBody>
          <a:bodyPr wrap="square" lIns="0" tIns="0" rIns="0" bIns="0" rtlCol="0" anchor="t"/>
          <a:lstStyle/>
          <a:p>
            <a:pPr indent="-171450" marL="171450">
              <a:spcAft>
                <a:spcPts val="500"/>
              </a:spcAft>
              <a:buFont typeface="Arial"/>
              <a:buChar char="•"/>
            </a:pPr>
            <a:r>
              <a:rPr lang="en-US" sz="1500" b="1" dirty="0">
                <a:solidFill>
                  <a:srgbClr val="1B1F27"/>
                </a:solidFill>
              </a:rPr>
              <a:t>Agrarflächen: </a:t>
            </a:r>
            <a:r>
              <a:rPr lang="en-US" sz="1500" dirty="0">
                <a:solidFill>
                  <a:srgbClr val="1B1F27"/>
                </a:solidFill>
              </a:rPr>
              <a:t>INVEKOS Österreich 2024 für Anbauflächen</a:t>
            </a:r>
            <a:endParaRPr lang="en-US" sz="1500" dirty="0"/>
          </a:p>
          <a:p>
            <a:pPr indent="-171450" marL="171450">
              <a:spcAft>
                <a:spcPts val="500"/>
              </a:spcAft>
              <a:buFont typeface="Arial"/>
              <a:buChar char="•"/>
            </a:pPr>
            <a:r>
              <a:rPr lang="en-US" sz="1500" b="1" dirty="0">
                <a:solidFill>
                  <a:srgbClr val="1B1F27"/>
                </a:solidFill>
              </a:rPr>
              <a:t>Satellitendaten: </a:t>
            </a:r>
            <a:r>
              <a:rPr lang="en-US" sz="1500" dirty="0">
                <a:solidFill>
                  <a:srgbClr val="1B1F27"/>
                </a:solidFill>
              </a:rPr>
              <a:t>Sentinel-2 für Ackerland und Bestandsentwicklung</a:t>
            </a:r>
            <a:endParaRPr lang="en-US" sz="1500" dirty="0"/>
          </a:p>
          <a:p>
            <a:pPr indent="-171450" marL="171450">
              <a:spcAft>
                <a:spcPts val="500"/>
              </a:spcAft>
              <a:buFont typeface="Arial"/>
              <a:buChar char="•"/>
            </a:pPr>
            <a:r>
              <a:rPr lang="en-US" sz="1500" b="1" dirty="0">
                <a:solidFill>
                  <a:srgbClr val="1B1F27"/>
                </a:solidFill>
              </a:rPr>
              <a:t>Wettbewerber: </a:t>
            </a:r>
            <a:r>
              <a:rPr lang="en-US" sz="1500" dirty="0">
                <a:solidFill>
                  <a:srgbClr val="1B1F27"/>
                </a:solidFill>
              </a:rPr>
              <a:t>öffentliche Quellen, z. B. OpenStreetMap</a:t>
            </a:r>
            <a:endParaRPr lang="en-US" sz="1500" dirty="0"/>
          </a:p>
          <a:p>
            <a:pPr indent="-171450" marL="171450">
              <a:spcAft>
                <a:spcPts val="500"/>
              </a:spcAft>
              <a:buFont typeface="Arial"/>
              <a:buChar char="•"/>
            </a:pPr>
            <a:r>
              <a:rPr lang="en-US" sz="1500" b="1" dirty="0">
                <a:solidFill>
                  <a:srgbClr val="1B1F27"/>
                </a:solidFill>
              </a:rPr>
              <a:t>Kundendaten: </a:t>
            </a:r>
            <a:r>
              <a:rPr lang="en-US" sz="1500" dirty="0">
                <a:solidFill>
                  <a:srgbClr val="1B1F27"/>
                </a:solidFill>
              </a:rPr>
              <a:t>CRM-Export als statische Tabelle</a:t>
            </a:r>
            <a:endParaRPr lang="en-US" sz="1500" dirty="0"/>
          </a:p>
          <a:p>
            <a:pPr indent="-171450" marL="171450">
              <a:spcAft>
                <a:spcPts val="500"/>
              </a:spcAft>
              <a:buFont typeface="Arial"/>
              <a:buChar char="•"/>
            </a:pPr>
            <a:r>
              <a:rPr lang="en-US" sz="1500" b="1" dirty="0">
                <a:solidFill>
                  <a:srgbClr val="1B1F27"/>
                </a:solidFill>
              </a:rPr>
              <a:t>Grundsatz: </a:t>
            </a:r>
            <a:r>
              <a:rPr lang="en-US" sz="1500" dirty="0">
                <a:solidFill>
                  <a:srgbClr val="1B1F27"/>
                </a:solidFill>
              </a:rPr>
              <a:t>Lieber „unbekannt“ als irreführende Daten</a:t>
            </a:r>
            <a:endParaRPr lang="en-US" sz="1500" dirty="0"/>
          </a:p>
        </p:txBody>
      </p:sp>
      <p:sp>
        <p:nvSpPr>
          <p:cNvPr id="12" name="Box Nächste Schritte"/>
          <p:cNvSpPr/>
          <p:nvPr/>
        </p:nvSpPr>
        <p:spPr>
          <a:xfrm>
            <a:off x="8083296" y="1280160"/>
            <a:ext cx="3657600" cy="4937760"/>
          </a:xfrm>
          <a:prstGeom prst="roundRect">
            <a:avLst>
              <a:gd name="adj" fmla="val 2000"/>
            </a:avLst>
          </a:prstGeom>
          <a:solidFill>
            <a:srgbClr val="1F3A68"/>
          </a:solidFill>
          <a:ln w="12700">
            <a:solidFill>
              <a:srgbClr val="1F3A68"/>
            </a:solidFill>
            <a:prstDash val="solid"/>
          </a:ln>
        </p:spPr>
      </p:sp>
      <p:sp>
        <p:nvSpPr>
          <p:cNvPr id="13" name="Text 11"/>
          <p:cNvSpPr txBox="1"/>
          <p:nvPr/>
        </p:nvSpPr>
        <p:spPr>
          <a:xfrm>
            <a:off x="8266176" y="1408176"/>
            <a:ext cx="3291840" cy="292608"/>
          </a:xfrm>
          <a:prstGeom prst="rect">
            <a:avLst/>
          </a:prstGeom>
          <a:noFill/>
          <a:ln/>
        </p:spPr>
        <p:txBody>
          <a:bodyPr wrap="square" lIns="0" tIns="0" rIns="0" bIns="0" rtlCol="0" anchor="ctr"/>
          <a:lstStyle/>
          <a:p>
            <a:pPr indent="0" marL="0">
              <a:buNone/>
            </a:pPr>
            <a:r>
              <a:rPr lang="en-US" sz="1700" b="1" dirty="0">
                <a:solidFill>
                  <a:srgbClr val="FFFFFF"/>
                </a:solidFill>
              </a:rPr>
              <a:t>Nächste Schritte</a:t>
            </a:r>
            <a:endParaRPr lang="en-US" sz="1700" dirty="0"/>
          </a:p>
        </p:txBody>
      </p:sp>
      <p:sp>
        <p:nvSpPr>
          <p:cNvPr id="14" name="Liste Next"/>
          <p:cNvSpPr txBox="1"/>
          <p:nvPr/>
        </p:nvSpPr>
        <p:spPr>
          <a:xfrm>
            <a:off x="8266176" y="1783080"/>
            <a:ext cx="3291840" cy="4343400"/>
          </a:xfrm>
          <a:prstGeom prst="rect">
            <a:avLst/>
          </a:prstGeom>
          <a:noFill/>
          <a:ln/>
        </p:spPr>
        <p:txBody>
          <a:bodyPr wrap="square" lIns="0" tIns="0" rIns="0" bIns="0" rtlCol="0" anchor="t"/>
          <a:lstStyle/>
          <a:p>
            <a:pPr indent="-171450" marL="171450">
              <a:spcAft>
                <a:spcPts val="500"/>
              </a:spcAft>
              <a:buFont typeface="Arial"/>
              <a:buChar char="•"/>
            </a:pPr>
            <a:r>
              <a:rPr lang="en-US" sz="1500" dirty="0">
                <a:solidFill>
                  <a:srgbClr val="FFFFFF"/>
                </a:solidFill>
              </a:rPr>
              <a:t>Offene Pull Requests reviewen und mergen (#15, #16, #21, #30)</a:t>
            </a:r>
            <a:endParaRPr lang="en-US" sz="1500" dirty="0"/>
          </a:p>
          <a:p>
            <a:pPr indent="-171450" marL="171450">
              <a:spcAft>
                <a:spcPts val="500"/>
              </a:spcAft>
              <a:buFont typeface="Arial"/>
              <a:buChar char="•"/>
            </a:pPr>
            <a:r>
              <a:rPr lang="en-US" sz="1500" dirty="0">
                <a:solidFill>
                  <a:srgbClr val="FFFFFF"/>
                </a:solidFill>
              </a:rPr>
              <a:t>Kartenbasis festlegen: OpenStreetMap oder Mapbox (#18)</a:t>
            </a:r>
            <a:endParaRPr lang="en-US" sz="1500" dirty="0"/>
          </a:p>
          <a:p>
            <a:pPr indent="-171450" marL="171450">
              <a:spcAft>
                <a:spcPts val="500"/>
              </a:spcAft>
              <a:buFont typeface="Arial"/>
              <a:buChar char="•"/>
            </a:pPr>
            <a:r>
              <a:rPr lang="en-US" sz="1500" dirty="0">
                <a:solidFill>
                  <a:srgbClr val="FFFFFF"/>
                </a:solidFill>
              </a:rPr>
              <a:t>Marktkarte von Weizen und Soja auf alle Anbauflächen erweitern</a:t>
            </a:r>
            <a:endParaRPr lang="en-US" sz="1500" dirty="0"/>
          </a:p>
          <a:p>
            <a:pPr indent="-171450" marL="171450">
              <a:spcAft>
                <a:spcPts val="500"/>
              </a:spcAft>
              <a:buFont typeface="Arial"/>
              <a:buChar char="•"/>
            </a:pPr>
            <a:r>
              <a:rPr lang="en-US" sz="1500" dirty="0">
                <a:solidFill>
                  <a:srgbClr val="FFFFFF"/>
                </a:solidFill>
              </a:rPr>
              <a:t>Entwicklungs-Workflow im Team festlegen (#28)</a:t>
            </a:r>
            <a:endParaRPr lang="en-US" sz="1500" dirty="0"/>
          </a:p>
          <a:p>
            <a:pPr indent="-171450" marL="171450">
              <a:spcAft>
                <a:spcPts val="500"/>
              </a:spcAft>
              <a:buFont typeface="Arial"/>
              <a:buChar char="•"/>
            </a:pPr>
            <a:r>
              <a:rPr lang="en-US" sz="1500" dirty="0">
                <a:solidFill>
                  <a:srgbClr val="FFFFFF"/>
                </a:solidFill>
              </a:rPr>
              <a:t>Zwischenstand im Review mit John Deere vorstellen</a:t>
            </a:r>
            <a:endParaRPr lang="en-US" sz="1500" dirty="0"/>
          </a:p>
        </p:txBody>
      </p:sp>
    </p:spTree>
  </p:cSld>
  <p:clrMapOvr>
    <a:masterClrMapping/>
  </p:clrMapOvr>
</p:sld>
</file>

<file path=ppt/theme/theme1.xml><?xml version="1.0" encoding="utf-8"?>
<a:theme xmlns:a="http://schemas.openxmlformats.org/drawingml/2006/main" name="TerraMax">
  <a:themeElements>
    <a:clrScheme name="TerraMax">
      <a:dk1>
        <a:srgbClr val="1B1F27"/>
      </a:dk1>
      <a:lt1>
        <a:srgbClr val="FFFFFF"/>
      </a:lt1>
      <a:dk2>
        <a:srgbClr val="1F3A68"/>
      </a:dk2>
      <a:lt2>
        <a:srgbClr val="EEF2F7"/>
      </a:lt2>
      <a:accent1>
        <a:srgbClr val="1F3A68"/>
      </a:accent1>
      <a:accent2>
        <a:srgbClr val="3E7C3A"/>
      </a:accent2>
      <a:accent3>
        <a:srgbClr val="C0392B"/>
      </a:accent3>
      <a:accent4>
        <a:srgbClr val="B7791F"/>
      </a:accent4>
      <a:accent5>
        <a:srgbClr val="6B7A90"/>
      </a:accent5>
      <a:accent6>
        <a:srgbClr val="2E6FA7"/>
      </a:accent6>
      <a:hlink>
        <a:srgbClr val="2E6FA7"/>
      </a:hlink>
      <a:folHlink>
        <a:srgbClr val="6B7A90"/>
      </a:folHlink>
    </a:clrScheme>
    <a:fontScheme name="TerraMax">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TerraMax – Stakeholder-Information: Solution Scope und geplante Inhalte</dc:title>
  <dc:subject>PptxGenJS Presentation</dc:subject>
  <dc:creator>TerraMax-Team, THI</dc:creator>
  <cp:lastModifiedBy>TerraMax-Team, THI</cp:lastModifiedBy>
  <cp:revision>1</cp:revision>
  <dcterms:created xsi:type="dcterms:W3CDTF">2026-10-30T16:43:52Z</dcterms:created>
  <dcterms:modified xsi:type="dcterms:W3CDTF">2026-10-30T16:43:52Z</dcterms:modified>
</cp:coreProperties>
</file>