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"/>
          <c:y val="0.05"/>
          <c:w val="1"/>
          <c:h val="0.9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Gefühl (−2 bis +2)</c:v>
                </c:pt>
              </c:strCache>
            </c:strRef>
          </c:tx>
          <c:spPr>
            <a:solidFill>
              <a:srgbClr val="1F3A68"/>
            </a:solidFill>
            <a:ln w="31750" cap="flat">
              <a:solidFill>
                <a:srgbClr val="1F3A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A68"/>
              </a:solidFill>
              <a:ln w="9525" cap="flat">
                <a:solidFill>
                  <a:srgbClr val="1F3A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Auslöser</c:v>
                  </c:pt>
                  <c:pt idx="1">
                    <c:v>Daten sammeln</c:v>
                  </c:pt>
                  <c:pt idx="2">
                    <c:v>Markt bewerten</c:v>
                  </c:pt>
                  <c:pt idx="3">
                    <c:v>Optionen abwägen</c:v>
                  </c:pt>
                  <c:pt idx="4">
                    <c:v>Entscheidung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-0.5</c:v>
                </c:pt>
                <c:pt idx="1">
                  <c:v>-1</c:v>
                </c:pt>
                <c:pt idx="2">
                  <c:v>-2</c:v>
                </c:pt>
                <c:pt idx="3">
                  <c:v>-1</c:v>
                </c:pt>
                <c:pt idx="4">
                  <c:v>0.5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-2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Primäre Persona für TerraMax laut Stakeholder-Interview (00:05:26): der Dealer Principal, der strategisch entscheidet, wo eine neue Niederlassung entsteht. Zweite Persona laut Interview: Sales Professional im Außendienst (separate Journey von Nico). Name, Alter und Betriebsgröße sind 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Ist-Journey ohne TerraMax. Auslöser laut Interview (00:05:44): John Deere fordert den Händler auf, eine neue Niederlassung zu eröffnen. Tiefpunkt in Phase 3: Unbekannte Betriebe und unerschlossene Gebiete sind im CRM nicht sichtbar. Die Gefühlskurve ist abgeleitet und als Annahme markiert. S1–S4 verweisen auf die Story-Kandidaten auf Folie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S1–S4 werden nach Abstimmung mit dem Product Owner als GitHub-Issues angelegt. Vorschlag für Login-Story #8: Rolle „Dealer Principal“ statt „Benutzer“; zweite Rolle „Sales Professional“ laut Interview (00:39:20).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Zeitstempel beziehen sich auf das Transkript des Stakeholder-Interviews mit John Deere (Datei Stakeholder_Interview_.vtt). Zitate sind gekürzt.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</a:rPr>
              <a:t>Persona: Stefan Berger, Händler-Geschäftsführer (Dealer Principal)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0"/>
                </a:solidFill>
              </a:rPr>
              <a:t>Version 1.0 · 27.10.2026 · Grundlage: Stakeholder-Interview mit John Deere (13.10.2026, Transkript)</a:t>
            </a:r>
            <a:endParaRPr lang="en-US" sz="1100" dirty="0"/>
          </a:p>
        </p:txBody>
      </p:sp>
      <p:sp>
        <p:nvSpPr>
          <p:cNvPr id="4" name="Legende"/>
          <p:cNvSpPr txBox="1"/>
          <p:nvPr/>
        </p:nvSpPr>
        <p:spPr>
          <a:xfrm>
            <a:off x="457200" y="63825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27"/>
                </a:solidFill>
              </a:rPr>
              <a:t>Kennzeichnung:  </a:t>
            </a:r>
            <a:r>
              <a:rPr lang="en-US" sz="1000" b="1" dirty="0">
                <a:solidFill>
                  <a:srgbClr val="3E7C3A"/>
                </a:solidFill>
              </a:rPr>
              <a:t>[I]</a:t>
            </a:r>
            <a:r>
              <a:rPr lang="en-US" sz="1000" dirty="0">
                <a:solidFill>
                  <a:srgbClr val="6B7A90"/>
                </a:solidFill>
              </a:rPr>
              <a:t> belegt durch das Stakeholder-Interview (Zeitstempel auf Folie 4)   </a:t>
            </a:r>
            <a:r>
              <a:rPr lang="en-US" sz="1000" b="1" dirty="0">
                <a:solidFill>
                  <a:srgbClr val="2E6FA7"/>
                </a:solidFill>
              </a:rPr>
              <a:t>[P]</a:t>
            </a:r>
            <a:r>
              <a:rPr lang="en-US" sz="1000" dirty="0">
                <a:solidFill>
                  <a:srgbClr val="6B7A90"/>
                </a:solidFill>
              </a:rPr>
              <a:t> belegt durch die Projektbeschreibung   </a:t>
            </a:r>
            <a:r>
              <a:rPr lang="en-US" sz="1000" b="1" dirty="0">
                <a:solidFill>
                  <a:srgbClr val="6B7A90"/>
                </a:solidFill>
              </a:rPr>
              <a:t>[A]</a:t>
            </a:r>
            <a:r>
              <a:rPr lang="en-US" sz="1000" dirty="0">
                <a:solidFill>
                  <a:srgbClr val="6B7A90"/>
                </a:solidFill>
              </a:rPr>
              <a:t> Annahme, noch zu prüfen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38251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TerraMax · 1</a:t>
            </a:r>
            <a:endParaRPr lang="en-US" sz="1000" dirty="0"/>
          </a:p>
        </p:txBody>
      </p:sp>
      <p:sp>
        <p:nvSpPr>
          <p:cNvPr id="7" name="Profilkarte"/>
          <p:cNvSpPr/>
          <p:nvPr/>
        </p:nvSpPr>
        <p:spPr>
          <a:xfrm>
            <a:off x="457200" y="1097280"/>
            <a:ext cx="3291840" cy="5120640"/>
          </a:xfrm>
          <a:prstGeom prst="roundRect">
            <a:avLst>
              <a:gd name="adj" fmla="val 3333"/>
            </a:avLst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600200" y="1261872"/>
            <a:ext cx="1005840" cy="1005840"/>
          </a:xfrm>
          <a:prstGeom prst="ellipse">
            <a:avLst/>
          </a:prstGeom>
          <a:solidFill>
            <a:srgbClr val="2E5490"/>
          </a:solidFill>
          <a:ln w="25400">
            <a:solidFill>
              <a:srgbClr val="FFFFFF"/>
            </a:solidFill>
            <a:prstDash val="solid"/>
          </a:ln>
        </p:spPr>
      </p:sp>
      <p:pic>
        <p:nvPicPr>
          <p:cNvPr id="9" name="Image 0" descr="Platzhalter-Bild der Person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1499616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23591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Stefan Berger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272491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CE5F2"/>
                </a:solidFill>
              </a:rPr>
              <a:t>48 Jahre</a:t>
            </a:r>
            <a:r>
              <a:rPr lang="en-US" sz="1100" b="1" dirty="0">
                <a:solidFill>
                  <a:srgbClr val="6B7A90"/>
                </a:solidFill>
              </a:rPr>
              <a:t> [A]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CE5F2"/>
                </a:solidFill>
              </a:rPr>
              <a:t>Geschäftsführer eines John-Deere-Händlers</a:t>
            </a:r>
            <a:r>
              <a:rPr lang="en-US" sz="1100" b="1" dirty="0">
                <a:solidFill>
                  <a:srgbClr val="3E7C3A"/>
                </a:solidFill>
              </a:rPr>
              <a:t> [I]</a:t>
            </a:r>
            <a:endParaRPr lang="en-US" sz="1100" dirty="0"/>
          </a:p>
        </p:txBody>
      </p:sp>
      <p:sp>
        <p:nvSpPr>
          <p:cNvPr id="12" name="Betrieb"/>
          <p:cNvSpPr txBox="1"/>
          <p:nvPr/>
        </p:nvSpPr>
        <p:spPr>
          <a:xfrm>
            <a:off x="640080" y="3310128"/>
            <a:ext cx="29260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FFFFFF"/>
                </a:solidFill>
              </a:rPr>
              <a:t>Betrieb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Größe: </a:t>
            </a:r>
            <a:r>
              <a:rPr lang="en-US" sz="1050" dirty="0">
                <a:solidFill>
                  <a:srgbClr val="FFFFFF"/>
                </a:solidFill>
              </a:rPr>
              <a:t>mehrere Standorte, Werkstatt an der Kapazitätsgrenze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r>
              <a:rPr lang="en-US" sz="1050" dirty="0">
                <a:solidFill>
                  <a:srgbClr val="FFFFFF"/>
                </a:solidFill>
              </a:rPr>
              <a:t>; ca. 5 Standorte</a:t>
            </a:r>
            <a:r>
              <a:rPr lang="en-US" sz="1050" b="1" dirty="0">
                <a:solidFill>
                  <a:srgbClr val="6B7A90"/>
                </a:solidFill>
              </a:rPr>
              <a:t> [A]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Ausrichtung: </a:t>
            </a:r>
            <a:r>
              <a:rPr lang="en-US" sz="1050" dirty="0">
                <a:solidFill>
                  <a:srgbClr val="FFFFFF"/>
                </a:solidFill>
              </a:rPr>
              <a:t>Verkauf, Service und Ersatzteile für Landtechnik</a:t>
            </a:r>
            <a:r>
              <a:rPr lang="en-US" sz="1050" b="1" dirty="0">
                <a:solidFill>
                  <a:srgbClr val="2E6FA7"/>
                </a:solidFill>
              </a:rPr>
              <a:t> [P]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Maschinenpark: </a:t>
            </a:r>
            <a:r>
              <a:rPr lang="en-US" sz="1050" dirty="0">
                <a:solidFill>
                  <a:srgbClr val="FFFFFF"/>
                </a:solidFill>
              </a:rPr>
              <a:t>Vorführ- und Mietmaschinen</a:t>
            </a:r>
            <a:r>
              <a:rPr lang="en-US" sz="1050" b="1" dirty="0">
                <a:solidFill>
                  <a:srgbClr val="6B7A90"/>
                </a:solidFill>
              </a:rPr>
              <a:t> [A]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Systeme: </a:t>
            </a:r>
            <a:r>
              <a:rPr lang="en-US" sz="1050" dirty="0">
                <a:solidFill>
                  <a:srgbClr val="FFFFFF"/>
                </a:solidFill>
              </a:rPr>
              <a:t>CRM (Microsoft Dynamics 365), Power BI mit Kartenansicht, Office 365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Arbeitsplatz: </a:t>
            </a:r>
            <a:r>
              <a:rPr lang="en-US" sz="1050" dirty="0">
                <a:solidFill>
                  <a:srgbClr val="FFFFFF"/>
                </a:solidFill>
              </a:rPr>
              <a:t>Büro, großer Desktop-Bildschirm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FFFFFF"/>
                </a:solidFill>
              </a:rPr>
              <a:t>Pilotregion: </a:t>
            </a:r>
            <a:r>
              <a:rPr lang="en-US" sz="1050" dirty="0">
                <a:solidFill>
                  <a:srgbClr val="FFFFFF"/>
                </a:solidFill>
              </a:rPr>
              <a:t>ein Bundesland, Land noch offen (#14)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250" dirty="0"/>
          </a:p>
        </p:txBody>
      </p:sp>
      <p:sp>
        <p:nvSpPr>
          <p:cNvPr id="13" name="Karte Ziele"/>
          <p:cNvSpPr/>
          <p:nvPr/>
        </p:nvSpPr>
        <p:spPr>
          <a:xfrm>
            <a:off x="3977640" y="1097280"/>
            <a:ext cx="3803904" cy="1938528"/>
          </a:xfrm>
          <a:prstGeom prst="roundRect">
            <a:avLst>
              <a:gd name="adj" fmla="val 377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42232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</a:rPr>
              <a:t>Ziele</a:t>
            </a:r>
            <a:endParaRPr lang="en-US" sz="1300" dirty="0"/>
          </a:p>
        </p:txBody>
      </p:sp>
      <p:sp>
        <p:nvSpPr>
          <p:cNvPr id="15" name="Liste Ziele"/>
          <p:cNvSpPr txBox="1"/>
          <p:nvPr/>
        </p:nvSpPr>
        <p:spPr>
          <a:xfrm>
            <a:off x="4142232" y="1536192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Standort für eine neue Niederlassung festlegen, wenn John Deere es fordert oder die Werkstatt ausgelastet ist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Unerschlossene Gebiete und unbekannte Betriebe finden, statt nur Bestandskunden zu betreuen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Servicestandard sichern: kein Kunde mehr als eine Stunde Fahrzeit vom Standort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  <p:sp>
        <p:nvSpPr>
          <p:cNvPr id="16" name="Karte Aufgaben im Arbeitsalltag"/>
          <p:cNvSpPr/>
          <p:nvPr/>
        </p:nvSpPr>
        <p:spPr>
          <a:xfrm>
            <a:off x="7927848" y="1097280"/>
            <a:ext cx="3803904" cy="1938528"/>
          </a:xfrm>
          <a:prstGeom prst="roundRect">
            <a:avLst>
              <a:gd name="adj" fmla="val 377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092440" y="1207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</a:rPr>
              <a:t>Aufgaben im Arbeitsalltag</a:t>
            </a:r>
            <a:endParaRPr lang="en-US" sz="1300" dirty="0"/>
          </a:p>
        </p:txBody>
      </p:sp>
      <p:sp>
        <p:nvSpPr>
          <p:cNvPr id="18" name="Liste Aufgaben"/>
          <p:cNvSpPr txBox="1"/>
          <p:nvPr/>
        </p:nvSpPr>
        <p:spPr>
          <a:xfrm>
            <a:off x="8092440" y="1536192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Strategische Standort- und Gebietsplanung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Steuerung der Verkäufer und ihrer Vertriebsgebiete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Abstimmung der Geschäftsentwicklung mit John Deere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Auswertung von Kundendaten aus CRM und Power BI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  <p:sp>
        <p:nvSpPr>
          <p:cNvPr id="19" name="Karte Größte Probleme (Pain Points)"/>
          <p:cNvSpPr/>
          <p:nvPr/>
        </p:nvSpPr>
        <p:spPr>
          <a:xfrm>
            <a:off x="3977640" y="3163824"/>
            <a:ext cx="3803904" cy="1938528"/>
          </a:xfrm>
          <a:prstGeom prst="roundRect">
            <a:avLst>
              <a:gd name="adj" fmla="val 3774"/>
            </a:avLst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142232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</a:rPr>
              <a:t>Größte Probleme (Pain Points)</a:t>
            </a:r>
            <a:endParaRPr lang="en-US" sz="1300" dirty="0"/>
          </a:p>
        </p:txBody>
      </p:sp>
      <p:sp>
        <p:nvSpPr>
          <p:cNvPr id="21" name="Liste Pain"/>
          <p:cNvSpPr txBox="1"/>
          <p:nvPr/>
        </p:nvSpPr>
        <p:spPr>
          <a:xfrm>
            <a:off x="4142232" y="3602736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CRM kennt nur bekannte Kunden, unbekannte Betriebe bleiben unsichtbar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Kundenstandort unklar (Wohnhaus, Hof oder Feld), Register nur auf PLZ-Ebene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Kartendashboards zeigen Pins, aber keine Erkenntnis für Entscheidungen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Abneigung gegen weitere KPI- und Kontroll-Tools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  <p:sp>
        <p:nvSpPr>
          <p:cNvPr id="22" name="Karte Erwartung: „What’s in it for me?“"/>
          <p:cNvSpPr/>
          <p:nvPr/>
        </p:nvSpPr>
        <p:spPr>
          <a:xfrm>
            <a:off x="7927848" y="3163824"/>
            <a:ext cx="3803904" cy="1938528"/>
          </a:xfrm>
          <a:prstGeom prst="roundRect">
            <a:avLst>
              <a:gd name="adj" fmla="val 3774"/>
            </a:avLst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8092440" y="32735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68"/>
                </a:solidFill>
              </a:rPr>
              <a:t>Erwartung: „What’s in it for me?“</a:t>
            </a:r>
            <a:endParaRPr lang="en-US" sz="1300" dirty="0"/>
          </a:p>
        </p:txBody>
      </p:sp>
      <p:sp>
        <p:nvSpPr>
          <p:cNvPr id="24" name="Liste Erwartung"/>
          <p:cNvSpPr txBox="1"/>
          <p:nvPr/>
        </p:nvSpPr>
        <p:spPr>
          <a:xfrm>
            <a:off x="8092440" y="3602736"/>
            <a:ext cx="34747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Entscheidungshilfe für den nächsten Schritt statt weiterem KPI-Dashboard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Optionen begründen und vergleichen, mit Angabe der Datenquelle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Unsicherheit verständlich als Stufe (hoch, mittel, niedrig)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Keine Doppeleingabe: Daten aus dem CRM, Absprung per Deep Link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  <p:sp>
        <p:nvSpPr>
          <p:cNvPr id="25" name="Zitat"/>
          <p:cNvSpPr/>
          <p:nvPr/>
        </p:nvSpPr>
        <p:spPr>
          <a:xfrm>
            <a:off x="3977640" y="5230368"/>
            <a:ext cx="7754112" cy="987552"/>
          </a:xfrm>
          <a:prstGeom prst="roundRect">
            <a:avLst>
              <a:gd name="adj" fmla="val 7407"/>
            </a:avLst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142232" y="5303520"/>
            <a:ext cx="7424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B1F27"/>
                </a:solidFill>
              </a:rPr>
              <a:t>„It would be a tool for me to evaluate how to develop business … It’s not about just put check boxes on the map. It needs to provide me some insight what’s next.“</a:t>
            </a:r>
            <a:endParaRPr lang="en-US" sz="1150" dirty="0"/>
          </a:p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Sinngemäß: Ein Werkzeug zur Geschäftsentwicklung, keine Häkchen auf der Karte, sondern Einblick, was als Nächstes kommt.  </a:t>
            </a:r>
            <a:r>
              <a:rPr lang="en-US" sz="1000" b="1" dirty="0">
                <a:solidFill>
                  <a:srgbClr val="6B7A90"/>
                </a:solidFill>
              </a:rPr>
              <a:t>Interview, 00:05:26–00:06:19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</a:rPr>
              <a:t>Ist-Journey: Standortentscheidung für eine neue Niederlassung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0"/>
                </a:solidFill>
              </a:rPr>
              <a:t>Version 1.0 · 27.10.2026 · Grundlage: Stakeholder-Interview mit John Deere (13.10.2026, Transkript)</a:t>
            </a:r>
            <a:endParaRPr lang="en-US" sz="1100" dirty="0"/>
          </a:p>
        </p:txBody>
      </p:sp>
      <p:sp>
        <p:nvSpPr>
          <p:cNvPr id="4" name="Legende"/>
          <p:cNvSpPr txBox="1"/>
          <p:nvPr/>
        </p:nvSpPr>
        <p:spPr>
          <a:xfrm>
            <a:off x="457200" y="63825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27"/>
                </a:solidFill>
              </a:rPr>
              <a:t>Kennzeichnung:  </a:t>
            </a:r>
            <a:r>
              <a:rPr lang="en-US" sz="1000" b="1" dirty="0">
                <a:solidFill>
                  <a:srgbClr val="3E7C3A"/>
                </a:solidFill>
              </a:rPr>
              <a:t>[I]</a:t>
            </a:r>
            <a:r>
              <a:rPr lang="en-US" sz="1000" dirty="0">
                <a:solidFill>
                  <a:srgbClr val="6B7A90"/>
                </a:solidFill>
              </a:rPr>
              <a:t> belegt durch das Stakeholder-Interview (Zeitstempel auf Folie 4)   </a:t>
            </a:r>
            <a:r>
              <a:rPr lang="en-US" sz="1000" b="1" dirty="0">
                <a:solidFill>
                  <a:srgbClr val="2E6FA7"/>
                </a:solidFill>
              </a:rPr>
              <a:t>[P]</a:t>
            </a:r>
            <a:r>
              <a:rPr lang="en-US" sz="1000" dirty="0">
                <a:solidFill>
                  <a:srgbClr val="6B7A90"/>
                </a:solidFill>
              </a:rPr>
              <a:t> belegt durch die Projektbeschreibung   </a:t>
            </a:r>
            <a:r>
              <a:rPr lang="en-US" sz="1000" b="1" dirty="0">
                <a:solidFill>
                  <a:srgbClr val="6B7A90"/>
                </a:solidFill>
              </a:rPr>
              <a:t>[A]</a:t>
            </a:r>
            <a:r>
              <a:rPr lang="en-US" sz="1000" dirty="0">
                <a:solidFill>
                  <a:srgbClr val="6B7A90"/>
                </a:solidFill>
              </a:rPr>
              <a:t> Annahme, noch zu prüfen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38251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TerraMax · 2</a:t>
            </a:r>
            <a:endParaRPr lang="en-US" sz="1000" dirty="0"/>
          </a:p>
        </p:txBody>
      </p:sp>
      <p:sp>
        <p:nvSpPr>
          <p:cNvPr id="7" name="Szenario"/>
          <p:cNvSpPr/>
          <p:nvPr/>
        </p:nvSpPr>
        <p:spPr>
          <a:xfrm>
            <a:off x="457200" y="1033272"/>
            <a:ext cx="11277295" cy="566928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0789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8"/>
                </a:solidFill>
              </a:rPr>
              <a:t>Persona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26187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</a:rPr>
              <a:t>Stefan Berger, Dealer Principal</a:t>
            </a:r>
            <a:r>
              <a:rPr lang="en-US" sz="1100" b="1" dirty="0">
                <a:solidFill>
                  <a:srgbClr val="3E7C3A"/>
                </a:solidFill>
              </a:rPr>
              <a:t> [I]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078992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8"/>
                </a:solidFill>
              </a:rPr>
              <a:t>Auslöser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126187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</a:rPr>
              <a:t>John Deere fordert eine neue Niederlassung, die Werkstatt ist ausgelastet</a:t>
            </a:r>
            <a:r>
              <a:rPr lang="en-US" sz="1100" b="1" dirty="0">
                <a:solidFill>
                  <a:srgbClr val="3E7C3A"/>
                </a:solidFill>
              </a:rPr>
              <a:t> [I]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107899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A68"/>
                </a:solidFill>
              </a:rPr>
              <a:t>Ergebnis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126187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27"/>
                </a:solidFill>
              </a:rPr>
              <a:t>Begründete Entscheidung für den neuen Standort</a:t>
            </a:r>
            <a:r>
              <a:rPr lang="en-US" sz="1100" b="1" dirty="0">
                <a:solidFill>
                  <a:srgbClr val="3E7C3A"/>
                </a:solidFill>
              </a:rPr>
              <a:t> [I]</a:t>
            </a:r>
            <a:endParaRPr lang="en-US" sz="1100" dirty="0"/>
          </a:p>
        </p:txBody>
      </p:sp>
      <p:sp>
        <p:nvSpPr>
          <p:cNvPr id="14" name="Phase 1"/>
          <p:cNvSpPr/>
          <p:nvPr/>
        </p:nvSpPr>
        <p:spPr>
          <a:xfrm>
            <a:off x="1874520" y="1700784"/>
            <a:ext cx="2026859" cy="384048"/>
          </a:xfrm>
          <a:prstGeom prst="chevron">
            <a:avLst/>
          </a:prstGeom>
          <a:solidFill>
            <a:srgbClr val="1F3A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011680" y="1700784"/>
            <a:ext cx="1789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  Auslöser</a:t>
            </a:r>
            <a:endParaRPr lang="en-US" sz="1200" dirty="0"/>
          </a:p>
        </p:txBody>
      </p:sp>
      <p:sp>
        <p:nvSpPr>
          <p:cNvPr id="16" name="Phase 2"/>
          <p:cNvSpPr/>
          <p:nvPr/>
        </p:nvSpPr>
        <p:spPr>
          <a:xfrm>
            <a:off x="3846515" y="1700784"/>
            <a:ext cx="2026859" cy="384048"/>
          </a:xfrm>
          <a:prstGeom prst="chevron">
            <a:avLst/>
          </a:prstGeom>
          <a:solidFill>
            <a:srgbClr val="1F3A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83675" y="1700784"/>
            <a:ext cx="1789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  Daten sammeln</a:t>
            </a:r>
            <a:endParaRPr lang="en-US" sz="1200" dirty="0"/>
          </a:p>
        </p:txBody>
      </p:sp>
      <p:sp>
        <p:nvSpPr>
          <p:cNvPr id="18" name="Phase 3"/>
          <p:cNvSpPr/>
          <p:nvPr/>
        </p:nvSpPr>
        <p:spPr>
          <a:xfrm>
            <a:off x="5818510" y="1700784"/>
            <a:ext cx="2026859" cy="384048"/>
          </a:xfrm>
          <a:prstGeom prst="chevron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955670" y="1700784"/>
            <a:ext cx="1789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  Markt bewerten</a:t>
            </a:r>
            <a:endParaRPr lang="en-US" sz="1200" dirty="0"/>
          </a:p>
        </p:txBody>
      </p:sp>
      <p:sp>
        <p:nvSpPr>
          <p:cNvPr id="20" name="Phase 4"/>
          <p:cNvSpPr/>
          <p:nvPr/>
        </p:nvSpPr>
        <p:spPr>
          <a:xfrm>
            <a:off x="7790505" y="1700784"/>
            <a:ext cx="2026859" cy="384048"/>
          </a:xfrm>
          <a:prstGeom prst="chevron">
            <a:avLst/>
          </a:prstGeom>
          <a:solidFill>
            <a:srgbClr val="1F3A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927665" y="1700784"/>
            <a:ext cx="1789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  Optionen abwägen</a:t>
            </a:r>
            <a:endParaRPr lang="en-US" sz="1200" dirty="0"/>
          </a:p>
        </p:txBody>
      </p:sp>
      <p:sp>
        <p:nvSpPr>
          <p:cNvPr id="22" name="Phase 5"/>
          <p:cNvSpPr/>
          <p:nvPr/>
        </p:nvSpPr>
        <p:spPr>
          <a:xfrm>
            <a:off x="9762500" y="1700784"/>
            <a:ext cx="2026859" cy="384048"/>
          </a:xfrm>
          <a:prstGeom prst="chevron">
            <a:avLst/>
          </a:prstGeom>
          <a:solidFill>
            <a:srgbClr val="1F3A6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899660" y="1700784"/>
            <a:ext cx="17891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 Entscheidung</a:t>
            </a:r>
            <a:endParaRPr lang="en-US" sz="1200" dirty="0"/>
          </a:p>
        </p:txBody>
      </p:sp>
      <p:sp>
        <p:nvSpPr>
          <p:cNvPr id="24" name="Zeile Handlungen"/>
          <p:cNvSpPr/>
          <p:nvPr/>
        </p:nvSpPr>
        <p:spPr>
          <a:xfrm>
            <a:off x="457200" y="2176272"/>
            <a:ext cx="1380744" cy="603504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6928" y="2176272"/>
            <a:ext cx="1234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Handlungen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874520" y="2176272"/>
            <a:ext cx="1935419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947672" y="2176272"/>
            <a:ext cx="18074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Erhält von John Deere die Vorgabe, eine neue Niederlassung zu eröffnen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846515" y="2176272"/>
            <a:ext cx="1935419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19667" y="2176272"/>
            <a:ext cx="18074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Führt Kundenliste aus dem CRM und Registerdaten zusammen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5818510" y="2176272"/>
            <a:ext cx="1935419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91662" y="2176272"/>
            <a:ext cx="18074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Sucht unerschlossene Gebiete und Betriebe, die nicht im CRM stehen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790505" y="2176272"/>
            <a:ext cx="1935419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863657" y="2176272"/>
            <a:ext cx="18074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Vergleicht: nah an Bestandskunden, Fläche vergrößern oder Servicelücken schließen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9762500" y="2176272"/>
            <a:ext cx="1935419" cy="603504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835652" y="2176272"/>
            <a:ext cx="180740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Erstellt eine Entscheidungsvorlage und begründet sie</a:t>
            </a:r>
            <a:r>
              <a:rPr lang="en-US" sz="1000" b="1" dirty="0">
                <a:solidFill>
                  <a:srgbClr val="6B7A90"/>
                </a:solidFill>
              </a:rPr>
              <a:t> [A]</a:t>
            </a:r>
            <a:endParaRPr lang="en-US" sz="1000" dirty="0"/>
          </a:p>
        </p:txBody>
      </p:sp>
      <p:sp>
        <p:nvSpPr>
          <p:cNvPr id="36" name="Zeile Touchpoints"/>
          <p:cNvSpPr/>
          <p:nvPr/>
        </p:nvSpPr>
        <p:spPr>
          <a:xfrm>
            <a:off x="457200" y="2816352"/>
            <a:ext cx="1380744" cy="530352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66928" y="281635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Touchpoints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1874520" y="2816352"/>
            <a:ext cx="1935419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947672" y="2816352"/>
            <a:ext cx="1807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John-Deere-Ansprechpartner, Werkstatt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3846515" y="2816352"/>
            <a:ext cx="1935419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919667" y="2816352"/>
            <a:ext cx="1807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CRM (Dynamics 365), Subventionsregister, Excel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5818510" y="2816352"/>
            <a:ext cx="1935419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891662" y="2816352"/>
            <a:ext cx="1807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Power BI mit Kartenansicht, Wissen der Verkäufer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790505" y="2816352"/>
            <a:ext cx="1935419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863657" y="2816352"/>
            <a:ext cx="1807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Karte, Excel, offene Servicefälle</a:t>
            </a:r>
            <a:r>
              <a:rPr lang="en-US" sz="1000" b="1" dirty="0">
                <a:solidFill>
                  <a:srgbClr val="6B7A90"/>
                </a:solidFill>
              </a:rPr>
              <a:t> [A]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9762500" y="2816352"/>
            <a:ext cx="1935419" cy="530352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835652" y="2816352"/>
            <a:ext cx="1807403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PowerPoint, Geschäftsleitung, John Deere</a:t>
            </a:r>
            <a:r>
              <a:rPr lang="en-US" sz="1000" b="1" dirty="0">
                <a:solidFill>
                  <a:srgbClr val="6B7A90"/>
                </a:solidFill>
              </a:rPr>
              <a:t> [A]</a:t>
            </a:r>
            <a:endParaRPr lang="en-US" sz="1000" dirty="0"/>
          </a:p>
        </p:txBody>
      </p:sp>
      <p:sp>
        <p:nvSpPr>
          <p:cNvPr id="48" name="Zeile Gedanken"/>
          <p:cNvSpPr/>
          <p:nvPr/>
        </p:nvSpPr>
        <p:spPr>
          <a:xfrm>
            <a:off x="457200" y="3383280"/>
            <a:ext cx="1380744" cy="502920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66928" y="33832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Gedanken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1874520" y="3383280"/>
            <a:ext cx="1935419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947672" y="3383280"/>
            <a:ext cx="1807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F27"/>
                </a:solidFill>
              </a:rPr>
              <a:t>„Wo soll die neue Niederlassung hin?“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3846515" y="3383280"/>
            <a:ext cx="1935419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919667" y="3383280"/>
            <a:ext cx="1807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F27"/>
                </a:solidFill>
              </a:rPr>
              <a:t>„Wo genau arbeiten meine Kunden eigentlich?“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5818510" y="3383280"/>
            <a:ext cx="1935419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5891662" y="3383280"/>
            <a:ext cx="1807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F27"/>
                </a:solidFill>
              </a:rPr>
              <a:t>„Was ist mit den Betrieben, die ich nicht kenne?“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790505" y="3383280"/>
            <a:ext cx="1935419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863657" y="3383280"/>
            <a:ext cx="1807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F27"/>
                </a:solidFill>
              </a:rPr>
              <a:t>„Erreicht jeder Kunde uns in einer Stunde?“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9762500" y="3383280"/>
            <a:ext cx="1935419" cy="502920"/>
          </a:xfrm>
          <a:prstGeom prst="rect">
            <a:avLst/>
          </a:prstGeom>
          <a:solidFill>
            <a:srgbClr val="FFF4D6"/>
          </a:solidFill>
          <a:ln w="12700">
            <a:solidFill>
              <a:srgbClr val="FFF4D6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835652" y="3383280"/>
            <a:ext cx="180740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1F27"/>
                </a:solidFill>
              </a:rPr>
              <a:t>„Kann ich die Entscheidung begründen?“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60" name="Zeile Gefühlskurve"/>
          <p:cNvSpPr/>
          <p:nvPr/>
        </p:nvSpPr>
        <p:spPr>
          <a:xfrm>
            <a:off x="457200" y="3922776"/>
            <a:ext cx="1380744" cy="768096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566928" y="3922776"/>
            <a:ext cx="1234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Gefühlskurve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1874520" y="3922776"/>
            <a:ext cx="1935419" cy="76809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3846515" y="3922776"/>
            <a:ext cx="1935419" cy="76809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818510" y="3922776"/>
            <a:ext cx="1935419" cy="76809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7790505" y="3922776"/>
            <a:ext cx="1935419" cy="76809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9762500" y="3922776"/>
            <a:ext cx="1935419" cy="768096"/>
          </a:xfrm>
          <a:prstGeom prst="rect">
            <a:avLst/>
          </a:prstGeom>
          <a:solidFill>
            <a:srgbClr val="F6F8FB"/>
          </a:solidFill>
          <a:ln w="12700">
            <a:solidFill>
              <a:srgbClr val="F6F8FB"/>
            </a:solidFill>
            <a:prstDash val="solid"/>
          </a:ln>
        </p:spPr>
      </p:sp>
      <p:graphicFrame>
        <p:nvGraphicFramePr>
          <p:cNvPr id="67" name="Gefühlskurve" descr=""/>
          <p:cNvGraphicFramePr/>
          <p:nvPr/>
        </p:nvGraphicFramePr>
        <p:xfrm>
          <a:off x="1874520" y="3941064"/>
          <a:ext cx="9823399" cy="493776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8" name="Text 64"/>
          <p:cNvSpPr txBox="1"/>
          <p:nvPr/>
        </p:nvSpPr>
        <p:spPr>
          <a:xfrm>
            <a:off x="1874520" y="4443984"/>
            <a:ext cx="1935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unter Druck</a:t>
            </a:r>
            <a:endParaRPr lang="en-US" sz="1050" dirty="0"/>
          </a:p>
        </p:txBody>
      </p:sp>
      <p:sp>
        <p:nvSpPr>
          <p:cNvPr id="69" name="Text 65"/>
          <p:cNvSpPr txBox="1"/>
          <p:nvPr/>
        </p:nvSpPr>
        <p:spPr>
          <a:xfrm>
            <a:off x="3846515" y="4443984"/>
            <a:ext cx="1935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genervt</a:t>
            </a:r>
            <a:endParaRPr lang="en-US" sz="1050" dirty="0"/>
          </a:p>
        </p:txBody>
      </p:sp>
      <p:sp>
        <p:nvSpPr>
          <p:cNvPr id="70" name="Text 66"/>
          <p:cNvSpPr txBox="1"/>
          <p:nvPr/>
        </p:nvSpPr>
        <p:spPr>
          <a:xfrm>
            <a:off x="5818510" y="4443984"/>
            <a:ext cx="1935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frustriert</a:t>
            </a:r>
            <a:endParaRPr lang="en-US" sz="1050" dirty="0"/>
          </a:p>
        </p:txBody>
      </p:sp>
      <p:sp>
        <p:nvSpPr>
          <p:cNvPr id="71" name="Text 67"/>
          <p:cNvSpPr txBox="1"/>
          <p:nvPr/>
        </p:nvSpPr>
        <p:spPr>
          <a:xfrm>
            <a:off x="7790505" y="4443984"/>
            <a:ext cx="1935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7791F"/>
                </a:solidFill>
              </a:rPr>
              <a:t>unsicher</a:t>
            </a:r>
            <a:endParaRPr lang="en-US" sz="1050" dirty="0"/>
          </a:p>
        </p:txBody>
      </p:sp>
      <p:sp>
        <p:nvSpPr>
          <p:cNvPr id="72" name="Text 68"/>
          <p:cNvSpPr txBox="1"/>
          <p:nvPr/>
        </p:nvSpPr>
        <p:spPr>
          <a:xfrm>
            <a:off x="9762500" y="4443984"/>
            <a:ext cx="193541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E7C3A"/>
                </a:solidFill>
              </a:rPr>
              <a:t>zuversichtlich</a:t>
            </a:r>
            <a:endParaRPr lang="en-US" sz="1050" dirty="0"/>
          </a:p>
        </p:txBody>
      </p:sp>
      <p:sp>
        <p:nvSpPr>
          <p:cNvPr id="73" name="Zeile Pain Points"/>
          <p:cNvSpPr/>
          <p:nvPr/>
        </p:nvSpPr>
        <p:spPr>
          <a:xfrm>
            <a:off x="457200" y="4727448"/>
            <a:ext cx="1380744" cy="566928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74" name="Text 70"/>
          <p:cNvSpPr txBox="1"/>
          <p:nvPr/>
        </p:nvSpPr>
        <p:spPr>
          <a:xfrm>
            <a:off x="566928" y="472744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Pain Points</a:t>
            </a:r>
            <a:endParaRPr lang="en-US" sz="1200" dirty="0"/>
          </a:p>
        </p:txBody>
      </p:sp>
      <p:sp>
        <p:nvSpPr>
          <p:cNvPr id="75" name="Shape 71"/>
          <p:cNvSpPr/>
          <p:nvPr/>
        </p:nvSpPr>
        <p:spPr>
          <a:xfrm>
            <a:off x="1874520" y="4727448"/>
            <a:ext cx="1935419" cy="566928"/>
          </a:xfrm>
          <a:prstGeom prst="rect">
            <a:avLst/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76" name="Text 72"/>
          <p:cNvSpPr txBox="1"/>
          <p:nvPr/>
        </p:nvSpPr>
        <p:spPr>
          <a:xfrm>
            <a:off x="1947672" y="4727448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Strategische Frage ohne passende Entscheidungsgrundlage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77" name="Shape 73"/>
          <p:cNvSpPr/>
          <p:nvPr/>
        </p:nvSpPr>
        <p:spPr>
          <a:xfrm>
            <a:off x="3846515" y="4727448"/>
            <a:ext cx="1935419" cy="566928"/>
          </a:xfrm>
          <a:prstGeom prst="rect">
            <a:avLst/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3919667" y="4727448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Standort unklar (Haus, Hof oder Feld), Register nur auf PLZ-Ebene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79" name="Shape 75"/>
          <p:cNvSpPr/>
          <p:nvPr/>
        </p:nvSpPr>
        <p:spPr>
          <a:xfrm>
            <a:off x="5818510" y="4727448"/>
            <a:ext cx="1935419" cy="566928"/>
          </a:xfrm>
          <a:prstGeom prst="rect">
            <a:avLst/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80" name="Text 76"/>
          <p:cNvSpPr txBox="1"/>
          <p:nvPr/>
        </p:nvSpPr>
        <p:spPr>
          <a:xfrm>
            <a:off x="5891662" y="4727448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CRM zeigt nur bekannte Kunden, Karte nur Pins ohne Erkenntnis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81" name="Shape 77"/>
          <p:cNvSpPr/>
          <p:nvPr/>
        </p:nvSpPr>
        <p:spPr>
          <a:xfrm>
            <a:off x="7790505" y="4727448"/>
            <a:ext cx="1935419" cy="566928"/>
          </a:xfrm>
          <a:prstGeom prst="rect">
            <a:avLst/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82" name="Text 78"/>
          <p:cNvSpPr txBox="1"/>
          <p:nvPr/>
        </p:nvSpPr>
        <p:spPr>
          <a:xfrm>
            <a:off x="7863657" y="4727448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1-Stunden-Regel nur grob prüfbar, Optionen schwer vergleichbar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endParaRPr lang="en-US" sz="1000" dirty="0"/>
          </a:p>
        </p:txBody>
      </p:sp>
      <p:sp>
        <p:nvSpPr>
          <p:cNvPr id="83" name="Shape 79"/>
          <p:cNvSpPr/>
          <p:nvPr/>
        </p:nvSpPr>
        <p:spPr>
          <a:xfrm>
            <a:off x="9762500" y="4727448"/>
            <a:ext cx="1935419" cy="566928"/>
          </a:xfrm>
          <a:prstGeom prst="rect">
            <a:avLst/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84" name="Text 80"/>
          <p:cNvSpPr txBox="1"/>
          <p:nvPr/>
        </p:nvSpPr>
        <p:spPr>
          <a:xfrm>
            <a:off x="9835652" y="4727448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Begründung stützt sich auf Erfahrung statt auf Daten</a:t>
            </a:r>
            <a:r>
              <a:rPr lang="en-US" sz="1000" b="1" dirty="0">
                <a:solidFill>
                  <a:srgbClr val="6B7A90"/>
                </a:solidFill>
              </a:rPr>
              <a:t> [A]</a:t>
            </a:r>
            <a:endParaRPr lang="en-US" sz="1000" dirty="0"/>
          </a:p>
        </p:txBody>
      </p:sp>
      <p:sp>
        <p:nvSpPr>
          <p:cNvPr id="85" name="Zeile Chancen"/>
          <p:cNvSpPr/>
          <p:nvPr/>
        </p:nvSpPr>
        <p:spPr>
          <a:xfrm>
            <a:off x="457200" y="5330952"/>
            <a:ext cx="1380744" cy="566928"/>
          </a:xfrm>
          <a:prstGeom prst="rect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86" name="Text 82"/>
          <p:cNvSpPr txBox="1"/>
          <p:nvPr/>
        </p:nvSpPr>
        <p:spPr>
          <a:xfrm>
            <a:off x="566928" y="533095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Chancen</a:t>
            </a:r>
            <a:endParaRPr lang="en-US" sz="1200" dirty="0"/>
          </a:p>
        </p:txBody>
      </p:sp>
      <p:sp>
        <p:nvSpPr>
          <p:cNvPr id="87" name="Shape 83"/>
          <p:cNvSpPr/>
          <p:nvPr/>
        </p:nvSpPr>
        <p:spPr>
          <a:xfrm>
            <a:off x="1874520" y="5330952"/>
            <a:ext cx="1935419" cy="566928"/>
          </a:xfrm>
          <a:prstGeom prst="rect">
            <a:avLst/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1947672" y="5330952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Startansicht: eigenes Gebiet mit Standorten auf einen Blick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r>
              <a:rPr lang="en-US" sz="1000" b="1" dirty="0">
                <a:solidFill>
                  <a:srgbClr val="1F3A68"/>
                </a:solidFill>
              </a:rPr>
              <a:t>  → S2</a:t>
            </a:r>
            <a:endParaRPr lang="en-US" sz="1000" dirty="0"/>
          </a:p>
        </p:txBody>
      </p:sp>
      <p:sp>
        <p:nvSpPr>
          <p:cNvPr id="89" name="Shape 85"/>
          <p:cNvSpPr/>
          <p:nvPr/>
        </p:nvSpPr>
        <p:spPr>
          <a:xfrm>
            <a:off x="3846515" y="5330952"/>
            <a:ext cx="1935419" cy="566928"/>
          </a:xfrm>
          <a:prstGeom prst="rect">
            <a:avLst/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90" name="Text 86"/>
          <p:cNvSpPr txBox="1"/>
          <p:nvPr/>
        </p:nvSpPr>
        <p:spPr>
          <a:xfrm>
            <a:off x="3919667" y="5330952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Betriebe und Ackerflächen auf H3-Zellen verorten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r>
              <a:rPr lang="en-US" sz="1000" b="1" dirty="0">
                <a:solidFill>
                  <a:srgbClr val="2E6FA7"/>
                </a:solidFill>
              </a:rPr>
              <a:t> [P]</a:t>
            </a:r>
            <a:r>
              <a:rPr lang="en-US" sz="1000" b="1" dirty="0">
                <a:solidFill>
                  <a:srgbClr val="1F3A68"/>
                </a:solidFill>
              </a:rPr>
              <a:t>  → S1</a:t>
            </a:r>
            <a:endParaRPr lang="en-US" sz="1000" dirty="0"/>
          </a:p>
        </p:txBody>
      </p:sp>
      <p:sp>
        <p:nvSpPr>
          <p:cNvPr id="91" name="Shape 87"/>
          <p:cNvSpPr/>
          <p:nvPr/>
        </p:nvSpPr>
        <p:spPr>
          <a:xfrm>
            <a:off x="5818510" y="5330952"/>
            <a:ext cx="1935419" cy="566928"/>
          </a:xfrm>
          <a:prstGeom prst="rect">
            <a:avLst/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92" name="Text 88"/>
          <p:cNvSpPr txBox="1"/>
          <p:nvPr/>
        </p:nvSpPr>
        <p:spPr>
          <a:xfrm>
            <a:off x="5891662" y="5330952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Marktkarte mit Ackerfläche, Kunden und weißen Flecken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r>
              <a:rPr lang="en-US" sz="1000" b="1" dirty="0">
                <a:solidFill>
                  <a:srgbClr val="1F3A68"/>
                </a:solidFill>
              </a:rPr>
              <a:t>  → S1, S2</a:t>
            </a:r>
            <a:endParaRPr lang="en-US" sz="1000" dirty="0"/>
          </a:p>
        </p:txBody>
      </p:sp>
      <p:sp>
        <p:nvSpPr>
          <p:cNvPr id="93" name="Shape 89"/>
          <p:cNvSpPr/>
          <p:nvPr/>
        </p:nvSpPr>
        <p:spPr>
          <a:xfrm>
            <a:off x="7790505" y="5330952"/>
            <a:ext cx="1935419" cy="566928"/>
          </a:xfrm>
          <a:prstGeom prst="rect">
            <a:avLst/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94" name="Text 90"/>
          <p:cNvSpPr txBox="1"/>
          <p:nvPr/>
        </p:nvSpPr>
        <p:spPr>
          <a:xfrm>
            <a:off x="7863657" y="5330952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Fahrzeit-Isochronen (1 Std.) für Standortszenarien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r>
              <a:rPr lang="en-US" sz="1000" b="1" dirty="0">
                <a:solidFill>
                  <a:srgbClr val="1F3A68"/>
                </a:solidFill>
              </a:rPr>
              <a:t>  → S3</a:t>
            </a:r>
            <a:endParaRPr lang="en-US" sz="1000" dirty="0"/>
          </a:p>
        </p:txBody>
      </p:sp>
      <p:sp>
        <p:nvSpPr>
          <p:cNvPr id="95" name="Shape 91"/>
          <p:cNvSpPr/>
          <p:nvPr/>
        </p:nvSpPr>
        <p:spPr>
          <a:xfrm>
            <a:off x="9762500" y="5330952"/>
            <a:ext cx="1935419" cy="566928"/>
          </a:xfrm>
          <a:prstGeom prst="rect">
            <a:avLst/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96" name="Text 92"/>
          <p:cNvSpPr txBox="1"/>
          <p:nvPr/>
        </p:nvSpPr>
        <p:spPr>
          <a:xfrm>
            <a:off x="9835652" y="5330952"/>
            <a:ext cx="1807403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27"/>
                </a:solidFill>
              </a:rPr>
              <a:t>Empfehlung mit Datenquelle und Konfidenzstufe</a:t>
            </a:r>
            <a:r>
              <a:rPr lang="en-US" sz="1000" b="1" dirty="0">
                <a:solidFill>
                  <a:srgbClr val="3E7C3A"/>
                </a:solidFill>
              </a:rPr>
              <a:t> [I]</a:t>
            </a:r>
            <a:r>
              <a:rPr lang="en-US" sz="1000" b="1" dirty="0">
                <a:solidFill>
                  <a:srgbClr val="1F3A68"/>
                </a:solidFill>
              </a:rPr>
              <a:t>  → S4</a:t>
            </a:r>
            <a:endParaRPr lang="en-US" sz="1000" dirty="0"/>
          </a:p>
        </p:txBody>
      </p:sp>
      <p:sp>
        <p:nvSpPr>
          <p:cNvPr id="97" name="Tiefpunkt"/>
          <p:cNvSpPr/>
          <p:nvPr/>
        </p:nvSpPr>
        <p:spPr>
          <a:xfrm>
            <a:off x="5791078" y="2148840"/>
            <a:ext cx="1990283" cy="3803904"/>
          </a:xfrm>
          <a:prstGeom prst="rect">
            <a:avLst/>
          </a:prstGeom>
          <a:ln w="25400">
            <a:solidFill>
              <a:srgbClr val="C0392B"/>
            </a:solidFill>
            <a:prstDash val="solid"/>
          </a:ln>
        </p:spPr>
      </p:sp>
      <p:sp>
        <p:nvSpPr>
          <p:cNvPr id="98" name="Text 94"/>
          <p:cNvSpPr txBox="1"/>
          <p:nvPr/>
        </p:nvSpPr>
        <p:spPr>
          <a:xfrm>
            <a:off x="457200" y="5971032"/>
            <a:ext cx="112772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392B"/>
                </a:solidFill>
              </a:rPr>
              <a:t>Tiefpunkt = größter Handlungsbedarf · Gefühlskurve abgeleitet [A] · → S1–S4 = Story-Kandidaten (Folie 3)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</a:rPr>
              <a:t>Story-Kandidaten und Rahmenbedingungen aus dem Interview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0"/>
                </a:solidFill>
              </a:rPr>
              <a:t>Version 1.0 · 27.10.2026 · Grundlage: Stakeholder-Interview mit John Deere (13.10.2026, Transkript)</a:t>
            </a:r>
            <a:endParaRPr lang="en-US" sz="1100" dirty="0"/>
          </a:p>
        </p:txBody>
      </p:sp>
      <p:sp>
        <p:nvSpPr>
          <p:cNvPr id="4" name="Legende"/>
          <p:cNvSpPr txBox="1"/>
          <p:nvPr/>
        </p:nvSpPr>
        <p:spPr>
          <a:xfrm>
            <a:off x="457200" y="63825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27"/>
                </a:solidFill>
              </a:rPr>
              <a:t>Kennzeichnung:  </a:t>
            </a:r>
            <a:r>
              <a:rPr lang="en-US" sz="1000" b="1" dirty="0">
                <a:solidFill>
                  <a:srgbClr val="3E7C3A"/>
                </a:solidFill>
              </a:rPr>
              <a:t>[I]</a:t>
            </a:r>
            <a:r>
              <a:rPr lang="en-US" sz="1000" dirty="0">
                <a:solidFill>
                  <a:srgbClr val="6B7A90"/>
                </a:solidFill>
              </a:rPr>
              <a:t> belegt durch das Stakeholder-Interview (Zeitstempel auf Folie 4)   </a:t>
            </a:r>
            <a:r>
              <a:rPr lang="en-US" sz="1000" b="1" dirty="0">
                <a:solidFill>
                  <a:srgbClr val="2E6FA7"/>
                </a:solidFill>
              </a:rPr>
              <a:t>[P]</a:t>
            </a:r>
            <a:r>
              <a:rPr lang="en-US" sz="1000" dirty="0">
                <a:solidFill>
                  <a:srgbClr val="6B7A90"/>
                </a:solidFill>
              </a:rPr>
              <a:t> belegt durch die Projektbeschreibung   </a:t>
            </a:r>
            <a:r>
              <a:rPr lang="en-US" sz="1000" b="1" dirty="0">
                <a:solidFill>
                  <a:srgbClr val="6B7A90"/>
                </a:solidFill>
              </a:rPr>
              <a:t>[A]</a:t>
            </a:r>
            <a:r>
              <a:rPr lang="en-US" sz="1000" dirty="0">
                <a:solidFill>
                  <a:srgbClr val="6B7A90"/>
                </a:solidFill>
              </a:rPr>
              <a:t> Annahme, noch zu prüfen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38251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TerraMax · 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24128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68"/>
                </a:solidFill>
              </a:rPr>
              <a:t>Story-Kandidaten fürs Backlog</a:t>
            </a:r>
            <a:endParaRPr lang="en-US" sz="1600" dirty="0"/>
          </a:p>
        </p:txBody>
      </p:sp>
      <p:sp>
        <p:nvSpPr>
          <p:cNvPr id="8" name="Story S1"/>
          <p:cNvSpPr/>
          <p:nvPr/>
        </p:nvSpPr>
        <p:spPr>
          <a:xfrm>
            <a:off x="457200" y="1417320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09928"/>
            <a:ext cx="502920" cy="5029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1709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S1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298448" y="15087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</a:rPr>
              <a:t>Als Dealer Principal möchte ich mein Gebiet als H3-Raster mit der Ackerfläche je Zelle sehen, um zu erkennen, wo mein adressierbarer Markt liegt.</a:t>
            </a:r>
            <a:r>
              <a:rPr lang="en-US" sz="1200" b="1" dirty="0">
                <a:solidFill>
                  <a:srgbClr val="3E7C3A"/>
                </a:solidFill>
              </a:rPr>
              <a:t> [I]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298448" y="2221992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Phase 2–3 · Interview 00:02:50, 00:04:00</a:t>
            </a:r>
            <a:endParaRPr lang="en-US" sz="1000" dirty="0"/>
          </a:p>
        </p:txBody>
      </p:sp>
      <p:sp>
        <p:nvSpPr>
          <p:cNvPr id="13" name="Story S2"/>
          <p:cNvSpPr/>
          <p:nvPr/>
        </p:nvSpPr>
        <p:spPr>
          <a:xfrm>
            <a:off x="457200" y="2624328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FBE4DF"/>
          </a:solidFill>
          <a:ln w="12700">
            <a:solidFill>
              <a:srgbClr val="FBE4D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792" y="2916936"/>
            <a:ext cx="502920" cy="5029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2916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298448" y="271576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</a:rPr>
              <a:t>Als Dealer Principal möchte ich meine Standorte, Vertriebsgebiete und CRM-Kunden auf dieser Karte sehen, um Gebiete mit zu wenig Betreuung zu erkennen.</a:t>
            </a:r>
            <a:r>
              <a:rPr lang="en-US" sz="1200" b="1" dirty="0">
                <a:solidFill>
                  <a:srgbClr val="3E7C3A"/>
                </a:solidFill>
              </a:rPr>
              <a:t> [I]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1298448" y="34290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Phase 1, 3 · Interview 00:02:50, 00:48:14</a:t>
            </a:r>
            <a:endParaRPr lang="en-US" sz="1000" dirty="0"/>
          </a:p>
        </p:txBody>
      </p:sp>
      <p:sp>
        <p:nvSpPr>
          <p:cNvPr id="18" name="Story S3"/>
          <p:cNvSpPr/>
          <p:nvPr/>
        </p:nvSpPr>
        <p:spPr>
          <a:xfrm>
            <a:off x="457200" y="3831336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1792" y="4123944"/>
            <a:ext cx="502920" cy="5029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123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1298448" y="3922776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</a:rPr>
              <a:t>Als Dealer Principal möchte ich sehen, welche Gebiete mehr als eine Stunde Fahrzeit vom nächsten Standort entfernt liegen, um Standorte für eine neue Niederlassung zu bewerten.</a:t>
            </a:r>
            <a:r>
              <a:rPr lang="en-US" sz="1200" b="1" dirty="0">
                <a:solidFill>
                  <a:srgbClr val="3E7C3A"/>
                </a:solidFill>
              </a:rPr>
              <a:t> [I]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463600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Phase 4 · Interview 00:01:20, 00:49:14</a:t>
            </a:r>
            <a:endParaRPr lang="en-US" sz="1000" dirty="0"/>
          </a:p>
        </p:txBody>
      </p:sp>
      <p:sp>
        <p:nvSpPr>
          <p:cNvPr id="23" name="Story S4"/>
          <p:cNvSpPr/>
          <p:nvPr/>
        </p:nvSpPr>
        <p:spPr>
          <a:xfrm>
            <a:off x="457200" y="5038344"/>
            <a:ext cx="6675120" cy="1097280"/>
          </a:xfrm>
          <a:prstGeom prst="roundRect">
            <a:avLst>
              <a:gd name="adj" fmla="val 6667"/>
            </a:avLst>
          </a:prstGeom>
          <a:solidFill>
            <a:srgbClr val="E3F0DE"/>
          </a:solidFill>
          <a:ln w="12700">
            <a:solidFill>
              <a:srgbClr val="E3F0D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21792" y="5330952"/>
            <a:ext cx="502920" cy="502920"/>
          </a:xfrm>
          <a:prstGeom prst="ellipse">
            <a:avLst/>
          </a:prstGeom>
          <a:solidFill>
            <a:srgbClr val="1F3A68"/>
          </a:solidFill>
          <a:ln w="12700">
            <a:solidFill>
              <a:srgbClr val="1F3A6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1792" y="5330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S4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298448" y="5129784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F27"/>
                </a:solidFill>
              </a:rPr>
              <a:t>Als Dealer Principal möchte ich zu jeder Empfehlung die Datenquelle und eine Konfidenzstufe sehen, um meine Entscheidung gegenüber John Deere begründen zu können.</a:t>
            </a:r>
            <a:r>
              <a:rPr lang="en-US" sz="1200" b="1" dirty="0">
                <a:solidFill>
                  <a:srgbClr val="3E7C3A"/>
                </a:solidFill>
              </a:rPr>
              <a:t> [I]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1298448" y="584301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Phase 5 · Interview 00:09:33, 00:45:04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" y="6190488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90"/>
                </a:solidFill>
              </a:rPr>
              <a:t>S1 und S2 adressieren den Tiefpunkt der Journey (Phase 3) und sind laut Interview der Kern des ersten MVP.</a:t>
            </a:r>
            <a:endParaRPr lang="en-US" sz="950" dirty="0"/>
          </a:p>
        </p:txBody>
      </p:sp>
      <p:sp>
        <p:nvSpPr>
          <p:cNvPr id="29" name="Rahmen"/>
          <p:cNvSpPr/>
          <p:nvPr/>
        </p:nvSpPr>
        <p:spPr>
          <a:xfrm>
            <a:off x="7406640" y="1024128"/>
            <a:ext cx="4325112" cy="5212080"/>
          </a:xfrm>
          <a:prstGeom prst="roundRect">
            <a:avLst>
              <a:gd name="adj" fmla="val 169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0" y="11338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</a:rPr>
              <a:t>Rollen</a:t>
            </a:r>
            <a:endParaRPr lang="en-US" sz="1400" dirty="0"/>
          </a:p>
        </p:txBody>
      </p:sp>
      <p:sp>
        <p:nvSpPr>
          <p:cNvPr id="31" name="Liste Rollen"/>
          <p:cNvSpPr txBox="1"/>
          <p:nvPr/>
        </p:nvSpPr>
        <p:spPr>
          <a:xfrm>
            <a:off x="7589520" y="146304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Login-Story #8: „Dealer Principal“ ersetzt „Benutzer“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Zweite Rolle: Sales Professional (eigene Journey)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Rechte je Rolle (RBAC), Anmeldung per Okta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  <p:sp>
        <p:nvSpPr>
          <p:cNvPr id="32" name="Text 29"/>
          <p:cNvSpPr txBox="1"/>
          <p:nvPr/>
        </p:nvSpPr>
        <p:spPr>
          <a:xfrm>
            <a:off x="7589520" y="26517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</a:rPr>
              <a:t>Leitplanken für das Design</a:t>
            </a:r>
            <a:endParaRPr lang="en-US" sz="1400" dirty="0"/>
          </a:p>
        </p:txBody>
      </p:sp>
      <p:sp>
        <p:nvSpPr>
          <p:cNvPr id="33" name="Liste Leitplanken"/>
          <p:cNvSpPr txBox="1"/>
          <p:nvPr/>
        </p:nvSpPr>
        <p:spPr>
          <a:xfrm>
            <a:off x="7589520" y="2980944"/>
            <a:ext cx="39776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Jede Funktion beantwortet „What’s in it for me?“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Planungsinstrument, kein Kontroll- oder KPI-Tool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Desktop für den Principal, mobil für den Vertrieb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Keine Dateneingabe: Daten fließen aus CRM/ERP, Aktionen per Deep Link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Lieber „unbekannt“ als irreführende Daten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Prognosen als Stufe mit Quelle; KI-generierte Inhalte kennzeichnen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DSGVO: nur geschäftlich relevante oder öffentliche Daten, keine Privatinfos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68"/>
                </a:solidFill>
              </a:rPr>
              <a:t>Belege aus dem Stakeholder-Interview und offene Punkte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A90"/>
                </a:solidFill>
              </a:rPr>
              <a:t>Version 1.0 · 27.10.2026 · Grundlage: Stakeholder-Interview mit John Deere (13.10.2026, Transkript)</a:t>
            </a:r>
            <a:endParaRPr lang="en-US" sz="1100" dirty="0"/>
          </a:p>
        </p:txBody>
      </p:sp>
      <p:sp>
        <p:nvSpPr>
          <p:cNvPr id="4" name="Legende"/>
          <p:cNvSpPr txBox="1"/>
          <p:nvPr/>
        </p:nvSpPr>
        <p:spPr>
          <a:xfrm>
            <a:off x="457200" y="6382512"/>
            <a:ext cx="10332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27"/>
                </a:solidFill>
              </a:rPr>
              <a:t>Kennzeichnung:  </a:t>
            </a:r>
            <a:r>
              <a:rPr lang="en-US" sz="1000" b="1" dirty="0">
                <a:solidFill>
                  <a:srgbClr val="3E7C3A"/>
                </a:solidFill>
              </a:rPr>
              <a:t>[I]</a:t>
            </a:r>
            <a:r>
              <a:rPr lang="en-US" sz="1000" dirty="0">
                <a:solidFill>
                  <a:srgbClr val="6B7A90"/>
                </a:solidFill>
              </a:rPr>
              <a:t> belegt durch das Stakeholder-Interview (Zeitstempel auf Folie 4)   </a:t>
            </a:r>
            <a:r>
              <a:rPr lang="en-US" sz="1000" b="1" dirty="0">
                <a:solidFill>
                  <a:srgbClr val="2E6FA7"/>
                </a:solidFill>
              </a:rPr>
              <a:t>[P]</a:t>
            </a:r>
            <a:r>
              <a:rPr lang="en-US" sz="1000" dirty="0">
                <a:solidFill>
                  <a:srgbClr val="6B7A90"/>
                </a:solidFill>
              </a:rPr>
              <a:t> belegt durch die Projektbeschreibung   </a:t>
            </a:r>
            <a:r>
              <a:rPr lang="en-US" sz="1000" b="1" dirty="0">
                <a:solidFill>
                  <a:srgbClr val="6B7A90"/>
                </a:solidFill>
              </a:rPr>
              <a:t>[A]</a:t>
            </a:r>
            <a:r>
              <a:rPr lang="en-US" sz="1000" dirty="0">
                <a:solidFill>
                  <a:srgbClr val="6B7A90"/>
                </a:solidFill>
              </a:rPr>
              <a:t> Annahme, noch zu prüfen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0789920" y="6382512"/>
            <a:ext cx="941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TerraMax · 4</a:t>
            </a:r>
            <a:endParaRPr lang="en-US" sz="1000" dirty="0"/>
          </a:p>
        </p:txBody>
      </p:sp>
      <p:graphicFrame>
        <p:nvGraphicFramePr>
          <p:cNvPr id="5" name="Beleg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76809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53949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Zeit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Aussage (gekürzt)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Verwendet für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6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00:01:06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Werkstatt an der Kapazitätsgrenze: „Where you should build the new outlet …“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Auslöser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00:01:20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„No customer should wait more than one hour of driving time from the key outlet.“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Ziel, S3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00:02:50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„Where is my total addressable market? … in which area there is not enough of my attention.“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S1, S2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00:05:44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„Dear Mr. Dealer, you need to open new outlet … The question for this person: where to open it?“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Persona, Auslöser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00:07:42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Allergie gegen „one more KPI“: Planungsinstrument statt Kontrolle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Leitplanke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00:08:50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Principal am großen Desktop-Bildschirm; braucht Begründung und Zeit zum Vergleichen (00:09:33)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Persona, S4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00:11:16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Subventionsregister nur auf PLZ-Ebene; unklar, ob Haus, Hof oder Feld der Kundenstandort ist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Pain Point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00:13:36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„If there is no record in CRM, you cannot affiliate any action with this entity.“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Pain Point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00:45:04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Prognosen als Wahrscheinlichkeit mit Quelle; generierte Inhalte kennzeichnen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S4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3A68"/>
                          </a:solidFill>
                        </a:rPr>
                        <a:t>00:49:14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„Build an isochrone map … overlay them with H3 grid“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F27"/>
                          </a:solidFill>
                        </a:rPr>
                        <a:t>S3</a:t>
                      </a:r>
                      <a:endParaRPr lang="en-US" sz="1200" dirty="0"/>
                    </a:p>
                  </a:txBody>
                  <a:tcPr marL="101600" marR="101600" marT="88900" marB="88900">
                    <a:lnL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Offen"/>
          <p:cNvSpPr/>
          <p:nvPr/>
        </p:nvSpPr>
        <p:spPr>
          <a:xfrm>
            <a:off x="8366760" y="1051560"/>
            <a:ext cx="3364992" cy="5166360"/>
          </a:xfrm>
          <a:prstGeom prst="roundRect">
            <a:avLst>
              <a:gd name="adj" fmla="val 217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49640" y="11612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68"/>
                </a:solidFill>
              </a:rPr>
              <a:t>Offene Punkte</a:t>
            </a:r>
            <a:endParaRPr lang="en-US" sz="1400" dirty="0"/>
          </a:p>
        </p:txBody>
      </p:sp>
      <p:sp>
        <p:nvSpPr>
          <p:cNvPr id="10" name="Liste Offen"/>
          <p:cNvSpPr txBox="1"/>
          <p:nvPr/>
        </p:nvSpPr>
        <p:spPr>
          <a:xfrm>
            <a:off x="8549640" y="1508760"/>
            <a:ext cx="3017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Größe des Händlers (Anzahl Standorte, Mitarbeitende) mit John Deere klären</a:t>
            </a:r>
            <a:r>
              <a:rPr lang="en-US" sz="1050" b="1" dirty="0">
                <a:solidFill>
                  <a:srgbClr val="6B7A90"/>
                </a:solidFill>
              </a:rPr>
              <a:t> [A]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Pilot-Bundesland festlegen (#14)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Gewichtung der Standortkriterien: Nähe zu Kunden, Flächenabdeckung, offene Servicefälle</a:t>
            </a:r>
            <a:r>
              <a:rPr lang="en-US" sz="1050" b="1" dirty="0">
                <a:solidFill>
                  <a:srgbClr val="6B7A90"/>
                </a:solidFill>
              </a:rPr>
              <a:t> [A]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Datenquellen je Land prüfen: Betriebsregister, Subventionen, Sentinel-2</a:t>
            </a:r>
            <a:r>
              <a:rPr lang="en-US" sz="1050" b="1" dirty="0">
                <a:solidFill>
                  <a:srgbClr val="3E7C3A"/>
                </a:solidFill>
              </a:rPr>
              <a:t> [I]</a:t>
            </a:r>
            <a:endParaRPr lang="en-US" sz="1050" dirty="0"/>
          </a:p>
          <a:p>
            <a:pPr indent="-171450" marL="171450">
              <a:spcAft>
                <a:spcPts val="500"/>
              </a:spcAft>
              <a:buFont typeface="Arial"/>
              <a:buChar char="•"/>
            </a:pPr>
            <a:r>
              <a:rPr lang="en-US" sz="1050" dirty="0">
                <a:solidFill>
                  <a:srgbClr val="1B1F27"/>
                </a:solidFill>
              </a:rPr>
              <a:t>Persona und Journey im Review mit dem Product Owner validieren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rraMax">
  <a:themeElements>
    <a:clrScheme name="TerraMax">
      <a:dk1>
        <a:srgbClr val="1B1F27"/>
      </a:dk1>
      <a:lt1>
        <a:srgbClr val="FFFFFF"/>
      </a:lt1>
      <a:dk2>
        <a:srgbClr val="1F3A68"/>
      </a:dk2>
      <a:lt2>
        <a:srgbClr val="EEF2F7"/>
      </a:lt2>
      <a:accent1>
        <a:srgbClr val="1F3A68"/>
      </a:accent1>
      <a:accent2>
        <a:srgbClr val="3E7C3A"/>
      </a:accent2>
      <a:accent3>
        <a:srgbClr val="C0392B"/>
      </a:accent3>
      <a:accent4>
        <a:srgbClr val="B7791F"/>
      </a:accent4>
      <a:accent5>
        <a:srgbClr val="6B7A90"/>
      </a:accent5>
      <a:accent6>
        <a:srgbClr val="2E6FA7"/>
      </a:accent6>
      <a:hlink>
        <a:srgbClr val="2E6FA7"/>
      </a:hlink>
      <a:folHlink>
        <a:srgbClr val="6B7A90"/>
      </a:folHlink>
    </a:clrScheme>
    <a:fontScheme name="TerraMax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TerraMax – Persona und User Journey Map (Dealer Principal)</dc:title>
  <dc:subject>PptxGenJS Presentation</dc:subject>
  <dc:creator>Erion Kelmendi &amp; Saifudin Mohamadi</dc:creator>
  <cp:lastModifiedBy>Erion Kelmendi &amp; Saifudin Mohamadi</cp:lastModifiedBy>
  <cp:revision>1</cp:revision>
  <dcterms:created xsi:type="dcterms:W3CDTF">2026-10-27T10:53:03Z</dcterms:created>
  <dcterms:modified xsi:type="dcterms:W3CDTF">2026-10-27T10:53:03Z</dcterms:modified>
</cp:coreProperties>
</file>